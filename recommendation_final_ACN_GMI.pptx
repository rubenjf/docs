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7" r:id="rId4"/>
  </p:sldMasterIdLst>
  <p:notesMasterIdLst>
    <p:notesMasterId r:id="rId30"/>
  </p:notesMasterIdLst>
  <p:handoutMasterIdLst>
    <p:handoutMasterId r:id="rId31"/>
  </p:handoutMasterIdLst>
  <p:sldIdLst>
    <p:sldId id="2134804388" r:id="rId5"/>
    <p:sldId id="2134804321" r:id="rId6"/>
    <p:sldId id="2147480273" r:id="rId7"/>
    <p:sldId id="454" r:id="rId8"/>
    <p:sldId id="2147480276" r:id="rId9"/>
    <p:sldId id="2147480283" r:id="rId10"/>
    <p:sldId id="2147480284" r:id="rId11"/>
    <p:sldId id="2147480277" r:id="rId12"/>
    <p:sldId id="2147480285" r:id="rId13"/>
    <p:sldId id="2147480286" r:id="rId14"/>
    <p:sldId id="2147480278" r:id="rId15"/>
    <p:sldId id="2147480279" r:id="rId16"/>
    <p:sldId id="2147480280" r:id="rId17"/>
    <p:sldId id="2147480288" r:id="rId18"/>
    <p:sldId id="2147480287" r:id="rId19"/>
    <p:sldId id="2147480281" r:id="rId20"/>
    <p:sldId id="2147480289" r:id="rId21"/>
    <p:sldId id="2147480282" r:id="rId22"/>
    <p:sldId id="2147480274" r:id="rId23"/>
    <p:sldId id="2147480271" r:id="rId24"/>
    <p:sldId id="2147480265" r:id="rId25"/>
    <p:sldId id="2147480267" r:id="rId26"/>
    <p:sldId id="2147480270" r:id="rId27"/>
    <p:sldId id="2147480272" r:id="rId28"/>
    <p:sldId id="2147375241" r:id="rId29"/>
  </p:sldIdLst>
  <p:sldSz cx="12192000" cy="6858000"/>
  <p:notesSz cx="9388475" cy="7102475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7FEB57-5E8D-DF4E-A0AC-FCE2D5F676CF}">
          <p14:sldIdLst>
            <p14:sldId id="2134804388"/>
            <p14:sldId id="2134804321"/>
            <p14:sldId id="2147480273"/>
            <p14:sldId id="454"/>
            <p14:sldId id="2147480276"/>
            <p14:sldId id="2147480283"/>
            <p14:sldId id="2147480284"/>
            <p14:sldId id="2147480277"/>
            <p14:sldId id="2147480285"/>
            <p14:sldId id="2147480286"/>
            <p14:sldId id="2147480278"/>
            <p14:sldId id="2147480279"/>
            <p14:sldId id="2147480280"/>
            <p14:sldId id="2147480288"/>
            <p14:sldId id="2147480287"/>
            <p14:sldId id="2147480281"/>
            <p14:sldId id="2147480289"/>
            <p14:sldId id="2147480282"/>
            <p14:sldId id="2147480274"/>
            <p14:sldId id="2147480271"/>
            <p14:sldId id="2147480265"/>
            <p14:sldId id="2147480267"/>
            <p14:sldId id="2147480270"/>
            <p14:sldId id="2147480272"/>
            <p14:sldId id="2147375241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3" orient="horz" pos="1321" userDrawn="1">
          <p15:clr>
            <a:srgbClr val="A4A3A4"/>
          </p15:clr>
        </p15:guide>
        <p15:guide id="4" pos="4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4258B0-1101-3B09-292A-B77C3DC56B63}" name="Mishra, Parth" initials="MP" userId="S::parth.mishra@accenture.com::c9d99cea-3db3-4983-b8f1-a6dfa346b5d9" providerId="AD"/>
  <p188:author id="{2B0EAAE2-D206-2CED-20EE-C100AF5DC1FC}" name="MISHRA, ABHISHEK" initials="MA" userId="S::a.ac.mishra@accenture.com::bdc136a7-b672-4200-afb0-a423b075f6f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tto, Michael V." initials="OV" lastIdx="4" clrIdx="0">
    <p:extLst>
      <p:ext uri="{19B8F6BF-5375-455C-9EA6-DF929625EA0E}">
        <p15:presenceInfo xmlns:p15="http://schemas.microsoft.com/office/powerpoint/2012/main" userId="S::michael.v.otto@accenture.com::2638b264-8b7a-44b1-9511-decb82cfe09a" providerId="AD"/>
      </p:ext>
    </p:extLst>
  </p:cmAuthor>
  <p:cmAuthor id="2" name="Jison, Anthony" initials="JA" lastIdx="1" clrIdx="1">
    <p:extLst>
      <p:ext uri="{19B8F6BF-5375-455C-9EA6-DF929625EA0E}">
        <p15:presenceInfo xmlns:p15="http://schemas.microsoft.com/office/powerpoint/2012/main" userId="S::anthony.jison@accenture.com::cddb18fc-60d3-4a85-96f5-f3e787dd51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3"/>
    <a:srgbClr val="BADDFF"/>
    <a:srgbClr val="7030A0"/>
    <a:srgbClr val="7500C0"/>
    <a:srgbClr val="44546A"/>
    <a:srgbClr val="1D9FDB"/>
    <a:srgbClr val="602D76"/>
    <a:srgbClr val="FF5BA4"/>
    <a:srgbClr val="0053A5"/>
    <a:srgbClr val="005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DBEE3-43B2-4326-A32C-30F99D93B2E4}" v="7" dt="2023-05-30T14:28:27.714"/>
    <p1510:client id="{B1FE07FF-40ED-ABFD-3E03-DDA31252A570}" v="963" dt="2023-05-30T16:17:37.569"/>
    <p1510:client id="{E1531BEB-50F7-0C60-C510-4C3248E3B53D}" v="543" dt="2023-05-30T18:22:34.768"/>
    <p1510:client id="{EBD1D50F-0364-49D9-AAD3-36FE370A3E2B}" v="126" dt="2023-05-30T12:17:12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042"/>
        <p:guide orient="horz" pos="1321"/>
        <p:guide pos="43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4166280" cy="2821742"/>
          </a:xfrm>
          <a:prstGeom prst="rect">
            <a:avLst/>
          </a:prstGeom>
        </p:spPr>
        <p:txBody>
          <a:bodyPr vert="horz" lIns="191645" tIns="95824" rIns="191645" bIns="95824" rtlCol="0"/>
          <a:lstStyle>
            <a:lvl1pPr algn="l">
              <a:defRPr sz="2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45990" y="3"/>
            <a:ext cx="4166280" cy="2821742"/>
          </a:xfrm>
          <a:prstGeom prst="rect">
            <a:avLst/>
          </a:prstGeom>
        </p:spPr>
        <p:txBody>
          <a:bodyPr vert="horz" lIns="191645" tIns="95824" rIns="191645" bIns="95824" rtlCol="0"/>
          <a:lstStyle>
            <a:lvl1pPr algn="r">
              <a:defRPr sz="2500"/>
            </a:lvl1pPr>
          </a:lstStyle>
          <a:p>
            <a:fld id="{7BBFF351-D87A-4C37-A4C6-FA7D418A4ECA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53603312"/>
            <a:ext cx="4166280" cy="2821742"/>
          </a:xfrm>
          <a:prstGeom prst="rect">
            <a:avLst/>
          </a:prstGeom>
        </p:spPr>
        <p:txBody>
          <a:bodyPr vert="horz" lIns="191645" tIns="95824" rIns="191645" bIns="95824" rtlCol="0" anchor="b"/>
          <a:lstStyle>
            <a:lvl1pPr algn="l">
              <a:defRPr sz="25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45990" y="53603312"/>
            <a:ext cx="4166280" cy="2821742"/>
          </a:xfrm>
          <a:prstGeom prst="rect">
            <a:avLst/>
          </a:prstGeom>
        </p:spPr>
        <p:txBody>
          <a:bodyPr vert="horz" lIns="191645" tIns="95824" rIns="191645" bIns="95824" rtlCol="0" anchor="b"/>
          <a:lstStyle>
            <a:lvl1pPr algn="r">
              <a:defRPr sz="2500"/>
            </a:lvl1pPr>
          </a:lstStyle>
          <a:p>
            <a:fld id="{6C806781-0F01-48DC-98C8-7CA776468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373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4166280" cy="2821742"/>
          </a:xfrm>
          <a:prstGeom prst="rect">
            <a:avLst/>
          </a:prstGeom>
        </p:spPr>
        <p:txBody>
          <a:bodyPr vert="horz" lIns="191645" tIns="95824" rIns="191645" bIns="95824" rtlCol="0"/>
          <a:lstStyle>
            <a:lvl1pPr algn="l">
              <a:defRPr sz="2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45990" y="3"/>
            <a:ext cx="4166280" cy="2821742"/>
          </a:xfrm>
          <a:prstGeom prst="rect">
            <a:avLst/>
          </a:prstGeom>
        </p:spPr>
        <p:txBody>
          <a:bodyPr vert="horz" lIns="191645" tIns="95824" rIns="191645" bIns="95824" rtlCol="0"/>
          <a:lstStyle>
            <a:lvl1pPr algn="r">
              <a:defRPr sz="2500"/>
            </a:lvl1pPr>
          </a:lstStyle>
          <a:p>
            <a:fld id="{B95F55EA-5E64-48D2-9257-A65CB8E6BC63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4003338" y="4233863"/>
            <a:ext cx="37620576" cy="2116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91645" tIns="95824" rIns="191645" bIns="958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1449" y="26806556"/>
            <a:ext cx="7691595" cy="25395679"/>
          </a:xfrm>
          <a:prstGeom prst="rect">
            <a:avLst/>
          </a:prstGeom>
        </p:spPr>
        <p:txBody>
          <a:bodyPr vert="horz" lIns="191645" tIns="95824" rIns="191645" bIns="958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53603312"/>
            <a:ext cx="4166280" cy="2821742"/>
          </a:xfrm>
          <a:prstGeom prst="rect">
            <a:avLst/>
          </a:prstGeom>
        </p:spPr>
        <p:txBody>
          <a:bodyPr vert="horz" lIns="191645" tIns="95824" rIns="191645" bIns="95824" rtlCol="0" anchor="b"/>
          <a:lstStyle>
            <a:lvl1pPr algn="l">
              <a:defRPr sz="25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45990" y="53603312"/>
            <a:ext cx="4166280" cy="2821742"/>
          </a:xfrm>
          <a:prstGeom prst="rect">
            <a:avLst/>
          </a:prstGeom>
        </p:spPr>
        <p:txBody>
          <a:bodyPr vert="horz" lIns="191645" tIns="95824" rIns="191645" bIns="95824" rtlCol="0" anchor="b"/>
          <a:lstStyle>
            <a:lvl1pPr algn="r">
              <a:defRPr sz="2500"/>
            </a:lvl1pPr>
          </a:lstStyle>
          <a:p>
            <a:fld id="{F51756B3-374C-4398-AE18-B13508CD2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890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756B3-374C-4398-AE18-B13508CD20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9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756B3-374C-4398-AE18-B13508CD20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59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D0C3-8544-4F31-BD01-0C0D62F288E0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36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D0C3-8544-4F31-BD01-0C0D62F288E0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239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8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9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6.bin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35904" y="1880353"/>
            <a:ext cx="6132095" cy="23876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400">
                <a:latin typeface="Rockwell" panose="020606030202050204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5904" y="4360028"/>
            <a:ext cx="6132095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684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AE95-4C53-4B62-895D-71AC13E8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8F91C-AE16-4C43-9011-9B627B3814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72A28-C511-455A-AB6B-33189C83F1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2AB94-C79B-4FA9-8299-0FC7EEE988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person preparing food in a kitchen&#10;&#10;Description automatically generated">
            <a:extLst>
              <a:ext uri="{FF2B5EF4-FFF2-40B4-BE49-F238E27FC236}">
                <a16:creationId xmlns:a16="http://schemas.microsoft.com/office/drawing/2014/main" id="{D94124C7-DA42-4376-A45F-B552354C4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6" name="bk object 18">
            <a:extLst>
              <a:ext uri="{FF2B5EF4-FFF2-40B4-BE49-F238E27FC236}">
                <a16:creationId xmlns:a16="http://schemas.microsoft.com/office/drawing/2014/main" id="{D244DBCF-68B2-4970-8C1D-03420E879496}"/>
              </a:ext>
            </a:extLst>
          </p:cNvPr>
          <p:cNvSpPr/>
          <p:nvPr userDrawn="1"/>
        </p:nvSpPr>
        <p:spPr>
          <a:xfrm>
            <a:off x="10834552" y="5801739"/>
            <a:ext cx="981777" cy="1031876"/>
          </a:xfrm>
          <a:prstGeom prst="rect">
            <a:avLst/>
          </a:prstGeom>
          <a:blipFill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57259260-9C2C-405B-9D01-D43E7A2427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210" r="8649" b="38279"/>
          <a:stretch/>
        </p:blipFill>
        <p:spPr>
          <a:xfrm flipH="1">
            <a:off x="0" y="1"/>
            <a:ext cx="6973824" cy="6998328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BCE7E7A-2DCC-41FC-A11B-AA0219E0AC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2504" y="1854230"/>
            <a:ext cx="4893346" cy="1644935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/>
            </a:lvl1pPr>
          </a:lstStyle>
          <a:p>
            <a:pPr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Graphik Extralight"/>
              </a:rPr>
              <a:t>Data Strategy Evolution Project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br>
              <a:rPr lang="en-US" sz="3200" b="1">
                <a:solidFill>
                  <a:schemeClr val="bg1"/>
                </a:solidFill>
                <a:latin typeface="Graphik"/>
              </a:rPr>
            </a:br>
            <a:br>
              <a:rPr lang="en-US" sz="3200" b="1">
                <a:solidFill>
                  <a:schemeClr val="bg1"/>
                </a:solidFill>
                <a:latin typeface="Graphik"/>
              </a:rPr>
            </a:br>
            <a:endParaRPr lang="en-US" sz="3200" b="1">
              <a:solidFill>
                <a:schemeClr val="bg1"/>
              </a:solidFill>
              <a:latin typeface="Graphik"/>
            </a:endParaRPr>
          </a:p>
          <a:p>
            <a:pPr>
              <a:lnSpc>
                <a:spcPct val="110000"/>
              </a:lnSpc>
            </a:pPr>
            <a:r>
              <a:rPr lang="en-US" sz="3200" b="1">
                <a:solidFill>
                  <a:schemeClr val="bg1"/>
                </a:solidFill>
                <a:latin typeface="Graphik"/>
              </a:rPr>
              <a:t>ACCENTURE</a:t>
            </a:r>
            <a:br>
              <a:rPr lang="en-US" sz="3200">
                <a:solidFill>
                  <a:schemeClr val="bg1"/>
                </a:solidFill>
                <a:latin typeface="Graphik Extralight"/>
              </a:rPr>
            </a:br>
            <a:r>
              <a:rPr lang="en-US" sz="3200">
                <a:solidFill>
                  <a:schemeClr val="bg1"/>
                </a:solidFill>
                <a:latin typeface="Graphik Extralight"/>
              </a:rPr>
              <a:t>proposal response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D313C1-9393-4D75-98F4-6E79903FD1BA}"/>
              </a:ext>
            </a:extLst>
          </p:cNvPr>
          <p:cNvSpPr/>
          <p:nvPr userDrawn="1"/>
        </p:nvSpPr>
        <p:spPr>
          <a:xfrm>
            <a:off x="595161" y="6144407"/>
            <a:ext cx="723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>
                <a:solidFill>
                  <a:schemeClr val="bg1"/>
                </a:solidFill>
                <a:latin typeface="Graphik" panose="020B0503030202060203" pitchFamily="34" charset="77"/>
              </a:rPr>
              <a:t>Date</a:t>
            </a:r>
            <a:endParaRPr lang="en-US" b="1">
              <a:solidFill>
                <a:schemeClr val="bg1"/>
              </a:solidFill>
              <a:effectLst/>
              <a:latin typeface="Graphik" panose="020B0503030202060203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40279-2A98-4019-8932-0CDF209D1788}"/>
              </a:ext>
            </a:extLst>
          </p:cNvPr>
          <p:cNvSpPr txBox="1"/>
          <p:nvPr userDrawn="1"/>
        </p:nvSpPr>
        <p:spPr>
          <a:xfrm>
            <a:off x="562504" y="1395854"/>
            <a:ext cx="4021899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Graphik"/>
              </a:rPr>
              <a:t>GENERAL MILLS </a:t>
            </a:r>
            <a:endParaRPr lang="en-US" sz="3200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DE6C2F-3E00-4CA0-BD50-B4C502EA1D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6929" y="5882993"/>
            <a:ext cx="1437024" cy="83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8846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545080" y="594360"/>
            <a:ext cx="3170238" cy="1904048"/>
          </a:xfrm>
        </p:spPr>
        <p:txBody>
          <a:bodyPr tIns="91440"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9394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b="0">
                <a:solidFill>
                  <a:srgbClr val="939498"/>
                </a:solidFill>
                <a:latin typeface="Arial Black" panose="020B0A04020102020204" pitchFamily="34" charset="0"/>
              </a:defRPr>
            </a:lvl2pPr>
            <a:lvl3pPr marL="914400" indent="0">
              <a:buNone/>
              <a:defRPr b="0">
                <a:solidFill>
                  <a:srgbClr val="939498"/>
                </a:solidFill>
                <a:latin typeface="Arial Black" panose="020B0A04020102020204" pitchFamily="34" charset="0"/>
              </a:defRPr>
            </a:lvl3pPr>
            <a:lvl4pPr marL="1371600" indent="0">
              <a:buNone/>
              <a:defRPr b="0">
                <a:solidFill>
                  <a:srgbClr val="939498"/>
                </a:solidFill>
                <a:latin typeface="Arial Black" panose="020B0A04020102020204" pitchFamily="34" charset="0"/>
              </a:defRPr>
            </a:lvl4pPr>
            <a:lvl5pPr marL="1828800" indent="0">
              <a:buNone/>
              <a:defRPr b="0">
                <a:solidFill>
                  <a:srgbClr val="939498"/>
                </a:solidFill>
                <a:latin typeface="Arial Black" panose="020B0A04020102020204" pitchFamily="34" charset="0"/>
              </a:defRPr>
            </a:lvl5pPr>
          </a:lstStyle>
          <a:p>
            <a:pPr lvl="0"/>
            <a:r>
              <a:rPr lang="en-US"/>
              <a:t>Department</a:t>
            </a:r>
          </a:p>
          <a:p>
            <a:pPr lvl="0"/>
            <a:r>
              <a:rPr lang="en-US"/>
              <a:t>Name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535904" y="1880353"/>
            <a:ext cx="6132095" cy="23876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400">
                <a:latin typeface="Rockwell" panose="020606030202050204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35904" y="4360028"/>
            <a:ext cx="6132095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1420808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B8C927D-8589-4F37-A13E-C56C3DF1D2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619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0" imgH="469" progId="TCLayout.ActiveDocument.1">
                  <p:embed/>
                </p:oleObj>
              </mc:Choice>
              <mc:Fallback>
                <p:oleObj name="think-cell Slide" r:id="rId5" imgW="470" imgH="469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B8C927D-8589-4F37-A13E-C56C3DF1D2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ED81A568-96AD-4F2A-99E9-CED42A278A0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>
              <a:latin typeface="Rockwell" panose="02060603020205020403" pitchFamily="18" charset="0"/>
              <a:ea typeface="+mj-ea"/>
              <a:cs typeface="+mj-cs"/>
              <a:sym typeface="Rockwell" panose="020606030202050204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790" y="132348"/>
            <a:ext cx="9753682" cy="10708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2BBAEC-BD36-4EE0-BBC1-383376FB3062}"/>
              </a:ext>
            </a:extLst>
          </p:cNvPr>
          <p:cNvSpPr/>
          <p:nvPr/>
        </p:nvSpPr>
        <p:spPr>
          <a:xfrm>
            <a:off x="11462994" y="215342"/>
            <a:ext cx="631596" cy="7480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BF6DB-7804-4A59-AF13-F1523C060C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5472" y="224769"/>
            <a:ext cx="2011008" cy="748074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68D7E-AE7B-4901-AE69-9D0EDA2EFB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20EDE9-ED80-4D70-8B80-8F029D7321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2AB94-C79B-4FA9-8299-0FC7EEE988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6382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Cover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ral&#10;&#10;Description automatically generated">
            <a:extLst>
              <a:ext uri="{FF2B5EF4-FFF2-40B4-BE49-F238E27FC236}">
                <a16:creationId xmlns:a16="http://schemas.microsoft.com/office/drawing/2014/main" id="{37B28284-88FA-1440-8692-CB1B859B49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74" y="0"/>
            <a:ext cx="12200974" cy="7226370"/>
          </a:xfrm>
          <a:prstGeom prst="rect">
            <a:avLst/>
          </a:prstGeom>
        </p:spPr>
      </p:pic>
      <p:sp>
        <p:nvSpPr>
          <p:cNvPr id="19" name="Freeform 18">
            <a:extLst>
              <a:ext uri="{FF2B5EF4-FFF2-40B4-BE49-F238E27FC236}">
                <a16:creationId xmlns:a16="http://schemas.microsoft.com/office/drawing/2014/main" id="{6A87549B-C3A3-BF40-8A26-808339F136D1}"/>
              </a:ext>
            </a:extLst>
          </p:cNvPr>
          <p:cNvSpPr/>
          <p:nvPr userDrawn="1"/>
        </p:nvSpPr>
        <p:spPr>
          <a:xfrm>
            <a:off x="4691270" y="-53009"/>
            <a:ext cx="7527234" cy="7288696"/>
          </a:xfrm>
          <a:custGeom>
            <a:avLst/>
            <a:gdLst>
              <a:gd name="connsiteX0" fmla="*/ 675860 w 7527234"/>
              <a:gd name="connsiteY0" fmla="*/ 13252 h 7288696"/>
              <a:gd name="connsiteX1" fmla="*/ 0 w 7527234"/>
              <a:gd name="connsiteY1" fmla="*/ 7288696 h 7288696"/>
              <a:gd name="connsiteX2" fmla="*/ 7527234 w 7527234"/>
              <a:gd name="connsiteY2" fmla="*/ 7275444 h 7288696"/>
              <a:gd name="connsiteX3" fmla="*/ 7513982 w 7527234"/>
              <a:gd name="connsiteY3" fmla="*/ 0 h 7288696"/>
              <a:gd name="connsiteX4" fmla="*/ 675860 w 7527234"/>
              <a:gd name="connsiteY4" fmla="*/ 13252 h 728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7234" h="7288696">
                <a:moveTo>
                  <a:pt x="675860" y="13252"/>
                </a:moveTo>
                <a:lnTo>
                  <a:pt x="0" y="7288696"/>
                </a:lnTo>
                <a:lnTo>
                  <a:pt x="7527234" y="7275444"/>
                </a:lnTo>
                <a:cubicBezTo>
                  <a:pt x="7522817" y="4850296"/>
                  <a:pt x="7518399" y="2425148"/>
                  <a:pt x="7513982" y="0"/>
                </a:cubicBezTo>
                <a:lnTo>
                  <a:pt x="675860" y="13252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1F94CEE-B088-B74E-BC57-365D1FA87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415" y="1839774"/>
            <a:ext cx="4066405" cy="2867522"/>
          </a:xfrm>
          <a:prstGeom prst="rect">
            <a:avLst/>
          </a:prstGeom>
          <a:noFill/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3200" b="1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US"/>
              <a:t>TABLE OF CONTENTS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DB70D4-C655-1644-B7B9-404DBFDD6B90}"/>
              </a:ext>
            </a:extLst>
          </p:cNvPr>
          <p:cNvCxnSpPr>
            <a:cxnSpLocks/>
            <a:stCxn id="19" idx="1"/>
            <a:endCxn id="19" idx="0"/>
          </p:cNvCxnSpPr>
          <p:nvPr userDrawn="1"/>
        </p:nvCxnSpPr>
        <p:spPr>
          <a:xfrm flipV="1">
            <a:off x="4691270" y="-39757"/>
            <a:ext cx="675860" cy="7275444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7EEB2F1-45C2-9F45-B50C-10ED03D3507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948041" y="439302"/>
            <a:ext cx="703257" cy="713797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81535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de-DE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</a:rPr>
              <a:t>1</a:t>
            </a:r>
            <a:endParaRPr kumimoji="0" lang="en-US" altLang="de-DE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</a:endParaRPr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65102FA4-B9AD-4B40-81D6-54510461A32C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842523" y="1515547"/>
            <a:ext cx="703257" cy="713797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81535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de-DE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</a:rPr>
              <a:t>2</a:t>
            </a:r>
            <a:endParaRPr kumimoji="0" lang="en-US" altLang="de-DE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</a:endParaRPr>
          </a:p>
        </p:txBody>
      </p:sp>
      <p:sp>
        <p:nvSpPr>
          <p:cNvPr id="14" name="Oval 5">
            <a:extLst>
              <a:ext uri="{FF2B5EF4-FFF2-40B4-BE49-F238E27FC236}">
                <a16:creationId xmlns:a16="http://schemas.microsoft.com/office/drawing/2014/main" id="{9B778640-7425-E245-BFD0-2B95E1BA7CB5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705346" y="2588298"/>
            <a:ext cx="703257" cy="713797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81535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de-DE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</a:rPr>
              <a:t>3</a:t>
            </a:r>
            <a:endParaRPr kumimoji="0" lang="en-US" altLang="de-DE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</a:endParaRPr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D4286271-CAB7-994B-800F-30F2FA40D8A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621533" y="3661049"/>
            <a:ext cx="703257" cy="713797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81535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de-DE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</a:rPr>
              <a:t>4</a:t>
            </a:r>
            <a:endParaRPr kumimoji="0" lang="en-US" altLang="de-DE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</a:endParaRPr>
          </a:p>
        </p:txBody>
      </p:sp>
      <p:sp>
        <p:nvSpPr>
          <p:cNvPr id="17" name="Oval 5">
            <a:extLst>
              <a:ext uri="{FF2B5EF4-FFF2-40B4-BE49-F238E27FC236}">
                <a16:creationId xmlns:a16="http://schemas.microsoft.com/office/drawing/2014/main" id="{28DEAE7B-F7FD-E840-AEC3-20DDEA973E3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508639" y="4733800"/>
            <a:ext cx="703257" cy="713797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81535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de-DE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</a:rPr>
              <a:t>5</a:t>
            </a:r>
            <a:endParaRPr kumimoji="0" lang="en-US" altLang="de-DE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</a:endParaRPr>
          </a:p>
        </p:txBody>
      </p:sp>
      <p:sp>
        <p:nvSpPr>
          <p:cNvPr id="18" name="Oval 5">
            <a:extLst>
              <a:ext uri="{FF2B5EF4-FFF2-40B4-BE49-F238E27FC236}">
                <a16:creationId xmlns:a16="http://schemas.microsoft.com/office/drawing/2014/main" id="{5B5AC221-9749-F343-BEDD-19F070379D9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11756" y="5806549"/>
            <a:ext cx="703257" cy="713797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81535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de-DE" sz="3200" b="1" kern="0">
                <a:solidFill>
                  <a:srgbClr val="FFFFFF"/>
                </a:solidFill>
                <a:latin typeface="Graphik" panose="020B0503030202060203" pitchFamily="34" charset="77"/>
              </a:rPr>
              <a:t>6</a:t>
            </a:r>
            <a:endParaRPr kumimoji="0" lang="en-US" altLang="de-DE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0FC2D-0688-43F3-BC07-28EE2AE620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2AB94-C79B-4FA9-8299-0FC7EEE988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4373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81790" y="1536867"/>
            <a:ext cx="11097126" cy="4948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D53F89-769E-4185-914D-C37BC5D7F934}"/>
              </a:ext>
            </a:extLst>
          </p:cNvPr>
          <p:cNvSpPr/>
          <p:nvPr/>
        </p:nvSpPr>
        <p:spPr>
          <a:xfrm>
            <a:off x="11462994" y="215342"/>
            <a:ext cx="631596" cy="7480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1DB43-B397-4628-AC2F-62EFFC720C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5473" y="224769"/>
            <a:ext cx="2011006" cy="7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9911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81790" y="1536867"/>
            <a:ext cx="11097126" cy="4948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1116C9-F874-40ED-91AB-4B7CE5398CDB}"/>
              </a:ext>
            </a:extLst>
          </p:cNvPr>
          <p:cNvSpPr/>
          <p:nvPr/>
        </p:nvSpPr>
        <p:spPr>
          <a:xfrm>
            <a:off x="11462994" y="215342"/>
            <a:ext cx="631596" cy="748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5599F-4AF1-4D68-846F-7749F824C2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5473" y="224769"/>
            <a:ext cx="2011006" cy="7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4654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81790" y="1536867"/>
            <a:ext cx="11097126" cy="4948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DB5BF-E775-4C18-BBCF-C2B166DC9B9F}"/>
              </a:ext>
            </a:extLst>
          </p:cNvPr>
          <p:cNvSpPr/>
          <p:nvPr/>
        </p:nvSpPr>
        <p:spPr>
          <a:xfrm>
            <a:off x="11462994" y="215342"/>
            <a:ext cx="631596" cy="748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A54BF-D1EC-4AC2-ABB6-881ECB0E87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5473" y="224769"/>
            <a:ext cx="2011006" cy="7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7917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81790" y="1536867"/>
            <a:ext cx="11097126" cy="4948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C98C5-ADA9-4644-A9E8-73BD85465824}"/>
              </a:ext>
            </a:extLst>
          </p:cNvPr>
          <p:cNvSpPr/>
          <p:nvPr/>
        </p:nvSpPr>
        <p:spPr>
          <a:xfrm>
            <a:off x="11462994" y="215342"/>
            <a:ext cx="631596" cy="74807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D23B63-3F08-4783-AFD9-F547835C9C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5473" y="224769"/>
            <a:ext cx="2011006" cy="7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265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81790" y="1536867"/>
            <a:ext cx="11097126" cy="4948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75DCE-4C4C-4632-AD2A-5DF5DDF9CEE9}"/>
              </a:ext>
            </a:extLst>
          </p:cNvPr>
          <p:cNvSpPr/>
          <p:nvPr/>
        </p:nvSpPr>
        <p:spPr>
          <a:xfrm>
            <a:off x="11462994" y="215342"/>
            <a:ext cx="631596" cy="748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9FFC7-F76E-463A-A41A-256D52FED1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5473" y="224769"/>
            <a:ext cx="2011006" cy="7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4488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DCF1ACB-15A2-4BDF-A943-5084177036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6950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0" imgH="469" progId="TCLayout.ActiveDocument.1">
                  <p:embed/>
                </p:oleObj>
              </mc:Choice>
              <mc:Fallback>
                <p:oleObj name="think-cell Slide" r:id="rId4" imgW="470" imgH="46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DCF1ACB-15A2-4BDF-A943-5084177036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228940" y="3087199"/>
            <a:ext cx="7963065" cy="794560"/>
          </a:xfrm>
        </p:spPr>
        <p:txBody>
          <a:bodyPr wrap="none">
            <a:normAutofit/>
          </a:bodyPr>
          <a:lstStyle>
            <a:lvl1pPr algn="l"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4228940" y="3880734"/>
            <a:ext cx="7963065" cy="607892"/>
          </a:xfrm>
        </p:spPr>
        <p:txBody>
          <a:bodyPr wrap="none">
            <a:normAutofit/>
          </a:bodyPr>
          <a:lstStyle>
            <a:lvl1pPr marL="0" indent="0" algn="l">
              <a:buNone/>
              <a:defRPr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3508808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F26C1912-293B-417C-9C2C-BD7F897933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F26C1912-293B-417C-9C2C-BD7F897933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F83230B5-FD60-62AA-70EE-DDF9FF65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90" y="132348"/>
            <a:ext cx="10702490" cy="10708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456324DB-C98F-9E8A-5721-F460831EC9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1790" y="6356350"/>
            <a:ext cx="107024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38C51EE5-0124-852A-2ADC-BB9D222449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84280" y="6356350"/>
            <a:ext cx="394635" cy="365125"/>
          </a:xfrm>
        </p:spPr>
        <p:txBody>
          <a:bodyPr/>
          <a:lstStyle/>
          <a:p>
            <a:fld id="{79C2AB94-C79B-4FA9-8299-0FC7EEE988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7A44A9-3C6E-658B-168C-FBFF16E61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90" y="1536867"/>
            <a:ext cx="11097126" cy="4749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0781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205C893E-BA09-4D45-A15A-DD04260B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57" y="342019"/>
            <a:ext cx="11474082" cy="8261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F3AA6EE-279A-4E47-A6EC-982AC1C3E5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2558" y="1168130"/>
            <a:ext cx="11474881" cy="4078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INSERT SUB-TITLE HERE AT 22PT, MIN 18PT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D54B57D-79FE-438B-BC68-5113A34487F3}"/>
              </a:ext>
            </a:extLst>
          </p:cNvPr>
          <p:cNvSpPr txBox="1">
            <a:spLocks/>
          </p:cNvSpPr>
          <p:nvPr userDrawn="1"/>
        </p:nvSpPr>
        <p:spPr>
          <a:xfrm>
            <a:off x="357188" y="6614287"/>
            <a:ext cx="2231231" cy="19357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815350" rtl="0" eaLnBrk="1" latinLnBrk="0" hangingPunct="1">
              <a:defRPr lang="en-AU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0767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5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3023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0697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8372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6046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3719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139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Copyright © 2018 Accenture. All rights reserved.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9B93495-FF6D-4F4F-8E49-F072BD4F56D7}"/>
              </a:ext>
            </a:extLst>
          </p:cNvPr>
          <p:cNvSpPr txBox="1">
            <a:spLocks/>
          </p:cNvSpPr>
          <p:nvPr userDrawn="1"/>
        </p:nvSpPr>
        <p:spPr>
          <a:xfrm flipH="1">
            <a:off x="11427618" y="6583807"/>
            <a:ext cx="402431" cy="19357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r" defTabSz="815350"/>
            <a:fld id="{90CBDC3A-D49F-4631-A8C7-55D59B33E5FA}" type="slidenum">
              <a:rPr lang="uk-UA" smtClean="0">
                <a:solidFill>
                  <a:schemeClr val="bg2">
                    <a:lumMod val="75000"/>
                  </a:schemeClr>
                </a:solidFill>
              </a:rPr>
              <a:pPr algn="r" defTabSz="815350"/>
              <a:t>‹#›</a:t>
            </a:fld>
            <a:endParaRPr lang="uk-UA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046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8FDE1F4-826E-4798-B9BA-E916B5EF66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8FDE1F4-826E-4798-B9BA-E916B5EF66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533CA03-6A6E-4C0B-A683-B823B52B922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792468"/>
            <a:ext cx="11430000" cy="360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2000" b="1" cap="all" spc="-50" baseline="0">
                <a:solidFill>
                  <a:srgbClr val="FF0000"/>
                </a:solidFill>
              </a:defRPr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solidFill>
                  <a:srgbClr val="FF0000"/>
                </a:solidFill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/>
              <a:t>First subtitle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11429999" cy="527721"/>
          </a:xfrm>
        </p:spPr>
        <p:txBody>
          <a:bodyPr>
            <a:noAutofit/>
          </a:bodyPr>
          <a:lstStyle>
            <a:lvl1pPr>
              <a:defRPr sz="2800" spc="-10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4091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BF402D-3B8F-1631-483D-0C40EC1ABCFA}"/>
              </a:ext>
            </a:extLst>
          </p:cNvPr>
          <p:cNvSpPr txBox="1"/>
          <p:nvPr userDrawn="1"/>
        </p:nvSpPr>
        <p:spPr>
          <a:xfrm>
            <a:off x="9793357" y="65200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917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 +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DEB725-EBBD-604B-A3AB-4A5857E4A754}"/>
              </a:ext>
            </a:extLst>
          </p:cNvPr>
          <p:cNvSpPr/>
          <p:nvPr userDrawn="1"/>
        </p:nvSpPr>
        <p:spPr>
          <a:xfrm flipH="1" flipV="1">
            <a:off x="12003313" y="0"/>
            <a:ext cx="188685" cy="6858000"/>
          </a:xfrm>
          <a:prstGeom prst="rect">
            <a:avLst/>
          </a:prstGeom>
          <a:gradFill>
            <a:gsLst>
              <a:gs pos="0">
                <a:srgbClr val="300976"/>
              </a:gs>
              <a:gs pos="100000">
                <a:srgbClr val="6903D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3F0EDB9-1129-344F-8608-E015A3C2DC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51410" b="13197"/>
          <a:stretch/>
        </p:blipFill>
        <p:spPr>
          <a:xfrm rot="10800000">
            <a:off x="-1" y="331075"/>
            <a:ext cx="1263251" cy="64027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E06D-611C-0B40-A380-6167FABAD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2853" y="360672"/>
            <a:ext cx="10232203" cy="519878"/>
          </a:xfrm>
          <a:prstGeom prst="rect">
            <a:avLst/>
          </a:prstGeom>
        </p:spPr>
        <p:txBody>
          <a:bodyPr lIns="0" tIns="0" rIns="0" bIns="0"/>
          <a:lstStyle>
            <a:lvl1pPr>
              <a:spcAft>
                <a:spcPts val="0"/>
              </a:spcAft>
              <a:defRPr sz="2800" b="1" i="0">
                <a:solidFill>
                  <a:schemeClr val="accent3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19BB6C-DCC9-7C44-AAA3-814DA74E33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668" t="68169" r="51538" b="25634"/>
          <a:stretch/>
        </p:blipFill>
        <p:spPr>
          <a:xfrm rot="10800000">
            <a:off x="-2" y="-1"/>
            <a:ext cx="1387237" cy="34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5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6E160A7-2D50-4872-B79D-7B7430D6F2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2093065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70" imgH="469" progId="TCLayout.ActiveDocument.1">
                  <p:embed/>
                </p:oleObj>
              </mc:Choice>
              <mc:Fallback>
                <p:oleObj name="think-cell Slide" r:id="rId21" imgW="470" imgH="46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6E160A7-2D50-4872-B79D-7B7430D6F2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1BA0144B-5996-4765-A02A-348C816B947E}"/>
              </a:ext>
            </a:extLst>
          </p:cNvPr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>
              <a:latin typeface="Rockwell" panose="02060603020205020403" pitchFamily="18" charset="0"/>
              <a:ea typeface="+mj-ea"/>
              <a:cs typeface="+mj-cs"/>
              <a:sym typeface="Rockwell" panose="02060603020205020403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790" y="132348"/>
            <a:ext cx="10515600" cy="1070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790" y="1536867"/>
            <a:ext cx="11097126" cy="4749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65C8E-4AB3-4E17-89C5-1D21BB712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790" y="6356350"/>
            <a:ext cx="10702490" cy="365125"/>
          </a:xfrm>
          <a:prstGeom prst="rect">
            <a:avLst/>
          </a:prstGeom>
        </p:spPr>
        <p:txBody>
          <a:bodyPr vert="horz" lIns="91440" tIns="0" rIns="91440" bIns="0" rtlCol="0" anchor="b" anchorCtr="0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0AC3F-5F53-4BFE-8555-8CA9FFD27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356350"/>
            <a:ext cx="394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9C2AB94-C79B-4FA9-8299-0FC7EEE988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7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908" r:id="rId2"/>
    <p:sldLayoutId id="2147483889" r:id="rId3"/>
    <p:sldLayoutId id="2147483909" r:id="rId4"/>
    <p:sldLayoutId id="2147483898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896" r:id="rId11"/>
    <p:sldLayoutId id="2147483916" r:id="rId12"/>
    <p:sldLayoutId id="2147483920" r:id="rId13"/>
    <p:sldLayoutId id="2147483924" r:id="rId14"/>
    <p:sldLayoutId id="2147483925" r:id="rId15"/>
    <p:sldLayoutId id="2147483926" r:id="rId16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D9FDB"/>
          </a:solidFill>
          <a:latin typeface="Rockwell" panose="020606030202050204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18" Type="http://schemas.openxmlformats.org/officeDocument/2006/relationships/image" Target="../media/image37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17" Type="http://schemas.openxmlformats.org/officeDocument/2006/relationships/image" Target="../media/image36.png"/><Relationship Id="rId2" Type="http://schemas.openxmlformats.org/officeDocument/2006/relationships/tags" Target="../tags/tag14.xml"/><Relationship Id="rId16" Type="http://schemas.openxmlformats.org/officeDocument/2006/relationships/image" Target="../media/image35.svg"/><Relationship Id="rId1" Type="http://schemas.openxmlformats.org/officeDocument/2006/relationships/tags" Target="../tags/tag13.xml"/><Relationship Id="rId6" Type="http://schemas.openxmlformats.org/officeDocument/2006/relationships/image" Target="../media/image2.emf"/><Relationship Id="rId11" Type="http://schemas.openxmlformats.org/officeDocument/2006/relationships/image" Target="../media/image30.pn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34.png"/><Relationship Id="rId10" Type="http://schemas.openxmlformats.org/officeDocument/2006/relationships/image" Target="../media/image29.sv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18" Type="http://schemas.openxmlformats.org/officeDocument/2006/relationships/image" Target="../media/image37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17" Type="http://schemas.openxmlformats.org/officeDocument/2006/relationships/image" Target="../media/image36.png"/><Relationship Id="rId2" Type="http://schemas.openxmlformats.org/officeDocument/2006/relationships/tags" Target="../tags/tag16.xml"/><Relationship Id="rId16" Type="http://schemas.openxmlformats.org/officeDocument/2006/relationships/image" Target="../media/image35.svg"/><Relationship Id="rId1" Type="http://schemas.openxmlformats.org/officeDocument/2006/relationships/tags" Target="../tags/tag15.xml"/><Relationship Id="rId6" Type="http://schemas.openxmlformats.org/officeDocument/2006/relationships/image" Target="../media/image2.emf"/><Relationship Id="rId11" Type="http://schemas.openxmlformats.org/officeDocument/2006/relationships/image" Target="../media/image30.pn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34.png"/><Relationship Id="rId10" Type="http://schemas.openxmlformats.org/officeDocument/2006/relationships/image" Target="../media/image29.sv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26" Type="http://schemas.openxmlformats.org/officeDocument/2006/relationships/image" Target="../media/image61.sv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1.sv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24" Type="http://schemas.openxmlformats.org/officeDocument/2006/relationships/image" Target="../media/image59.sv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63.svg"/><Relationship Id="rId10" Type="http://schemas.openxmlformats.org/officeDocument/2006/relationships/image" Target="../media/image45.svg"/><Relationship Id="rId19" Type="http://schemas.openxmlformats.org/officeDocument/2006/relationships/image" Target="../media/image54.pn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Relationship Id="rId22" Type="http://schemas.openxmlformats.org/officeDocument/2006/relationships/image" Target="../media/image57.svg"/><Relationship Id="rId27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65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6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4.sv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7.svg"/><Relationship Id="rId11" Type="http://schemas.openxmlformats.org/officeDocument/2006/relationships/image" Target="../media/image72.svg"/><Relationship Id="rId5" Type="http://schemas.openxmlformats.org/officeDocument/2006/relationships/image" Target="../media/image66.png"/><Relationship Id="rId15" Type="http://schemas.openxmlformats.org/officeDocument/2006/relationships/image" Target="../media/image76.svg"/><Relationship Id="rId10" Type="http://schemas.openxmlformats.org/officeDocument/2006/relationships/image" Target="../media/image71.png"/><Relationship Id="rId4" Type="http://schemas.openxmlformats.org/officeDocument/2006/relationships/image" Target="../media/image1.jpeg"/><Relationship Id="rId9" Type="http://schemas.openxmlformats.org/officeDocument/2006/relationships/image" Target="../media/image70.svg"/><Relationship Id="rId1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746A5B6-B1B4-4C2A-914C-FC8F1ED9DD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57109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3" progId="TCLayout.ActiveDocument.1">
                  <p:embed/>
                </p:oleObj>
              </mc:Choice>
              <mc:Fallback>
                <p:oleObj name="think-cell Slide" r:id="rId4" imgW="352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746A5B6-B1B4-4C2A-914C-FC8F1ED9DD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8458F12-DD35-4ADA-A334-5CD5CE8AD6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4400">
              <a:latin typeface="Rockwell" panose="02060603020205020403" pitchFamily="18" charset="0"/>
              <a:ea typeface="+mj-ea"/>
              <a:cs typeface="+mj-cs"/>
              <a:sym typeface="Rockwell" panose="02060603020205020403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6FF85-BF38-4AF9-AAB7-4016450DA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8303" y="465210"/>
            <a:ext cx="6132095" cy="2387600"/>
          </a:xfrm>
        </p:spPr>
        <p:txBody>
          <a:bodyPr/>
          <a:lstStyle/>
          <a:p>
            <a:r>
              <a:rPr lang="en-US" err="1"/>
              <a:t>MLOps</a:t>
            </a:r>
            <a:r>
              <a:rPr lang="en-US"/>
              <a:t> Strategy &amp;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A83D0-5A75-4FD6-8577-BA113A451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8302" y="5358757"/>
            <a:ext cx="6132095" cy="824329"/>
          </a:xfrm>
        </p:spPr>
        <p:txBody>
          <a:bodyPr/>
          <a:lstStyle/>
          <a:p>
            <a:r>
              <a:rPr lang="en-US"/>
              <a:t>June 2</a:t>
            </a:r>
            <a:r>
              <a:rPr lang="en-US" baseline="30000"/>
              <a:t>nd</a:t>
            </a:r>
            <a:r>
              <a:rPr lang="en-US"/>
              <a:t> , 2023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384744-D652-8621-D6EB-F42310E18A0E}"/>
              </a:ext>
            </a:extLst>
          </p:cNvPr>
          <p:cNvSpPr txBox="1">
            <a:spLocks/>
          </p:cNvSpPr>
          <p:nvPr/>
        </p:nvSpPr>
        <p:spPr>
          <a:xfrm>
            <a:off x="4688301" y="3723667"/>
            <a:ext cx="6132095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>
                <a:solidFill>
                  <a:srgbClr val="1D9FDB"/>
                </a:solidFill>
                <a:latin typeface="Rockwell" panose="020606030202050204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/>
              <a:t>Post Engagement Recommendation for GMI</a:t>
            </a:r>
          </a:p>
        </p:txBody>
      </p:sp>
    </p:spTree>
    <p:extLst>
      <p:ext uri="{BB962C8B-B14F-4D97-AF65-F5344CB8AC3E}">
        <p14:creationId xmlns:p14="http://schemas.microsoft.com/office/powerpoint/2010/main" val="3231803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A92C60F-5257-4301-BA2E-E501789D52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0" imgH="469" progId="TCLayout.ActiveDocument.1">
                  <p:embed/>
                </p:oleObj>
              </mc:Choice>
              <mc:Fallback>
                <p:oleObj name="think-cell Slide" r:id="rId5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A92C60F-5257-4301-BA2E-E501789D52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D4216566-97DE-45C9-A005-4A60E29773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3600">
              <a:latin typeface="Rockwell" panose="02060603020205020403" pitchFamily="18" charset="0"/>
              <a:ea typeface="+mj-ea"/>
              <a:cs typeface="+mj-cs"/>
              <a:sym typeface="Rockwell" panose="02060603020205020403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EAF8A-0D80-42EB-855F-C66B9535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>
                <a:latin typeface="Rockwell"/>
              </a:rPr>
              <a:t>Assessment Outcomes &amp; Recommendation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D12E1-14FB-14A4-627D-3CDEE7EA7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4F789EE-F7DB-4E1C-84EC-AA405A417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228355"/>
              </p:ext>
            </p:extLst>
          </p:nvPr>
        </p:nvGraphicFramePr>
        <p:xfrm>
          <a:off x="104172" y="1241988"/>
          <a:ext cx="12002947" cy="5580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819">
                  <a:extLst>
                    <a:ext uri="{9D8B030D-6E8A-4147-A177-3AD203B41FA5}">
                      <a16:colId xmlns:a16="http://schemas.microsoft.com/office/drawing/2014/main" val="2559148262"/>
                    </a:ext>
                  </a:extLst>
                </a:gridCol>
                <a:gridCol w="5057188">
                  <a:extLst>
                    <a:ext uri="{9D8B030D-6E8A-4147-A177-3AD203B41FA5}">
                      <a16:colId xmlns:a16="http://schemas.microsoft.com/office/drawing/2014/main" val="105243726"/>
                    </a:ext>
                  </a:extLst>
                </a:gridCol>
                <a:gridCol w="4689940">
                  <a:extLst>
                    <a:ext uri="{9D8B030D-6E8A-4147-A177-3AD203B41FA5}">
                      <a16:colId xmlns:a16="http://schemas.microsoft.com/office/drawing/2014/main" val="1057296211"/>
                    </a:ext>
                  </a:extLst>
                </a:gridCol>
              </a:tblGrid>
              <a:tr h="32188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Capability Category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Assessment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Recommendations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69619"/>
                  </a:ext>
                </a:extLst>
              </a:tr>
              <a:tr h="908618">
                <a:tc>
                  <a:txBody>
                    <a:bodyPr/>
                    <a:lstStyle/>
                    <a:p>
                      <a:pPr marL="0" lvl="1" indent="0" algn="l"/>
                      <a:r>
                        <a:rPr lang="en-US" sz="1400" b="1"/>
                        <a:t>Data Science Lifecycle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Set up of experimentation and tracking process with visualization. </a:t>
                      </a:r>
                    </a:p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/>
                        <a:t>Build a centralized model registry</a:t>
                      </a:r>
                    </a:p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/>
                        <a:t>Store and manage features using a centralized Feature Store</a:t>
                      </a:r>
                    </a:p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/>
                        <a:t>Model training accelerators for faster model training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Data governance over the data quality and anomaly detection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665"/>
                  </a:ext>
                </a:extLst>
              </a:tr>
              <a:tr h="908618">
                <a:tc>
                  <a:txBody>
                    <a:bodyPr/>
                    <a:lstStyle/>
                    <a:p>
                      <a:pPr marL="0" lvl="1" indent="0" algn="l"/>
                      <a:r>
                        <a:rPr lang="en-US" sz="1400" b="1"/>
                        <a:t>Model Industrialization Approach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Set up alert mechanism for model and data drift detection 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Build standard framework to address all AI use-cases e.g. DL, NLP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Set up standard </a:t>
                      </a:r>
                      <a:r>
                        <a:rPr lang="en-US" sz="1100" b="0" err="1"/>
                        <a:t>InfraOps</a:t>
                      </a:r>
                      <a:r>
                        <a:rPr lang="en-US" sz="1100" b="0"/>
                        <a:t> using </a:t>
                      </a:r>
                      <a:r>
                        <a:rPr lang="en-US" sz="1100" b="0" err="1"/>
                        <a:t>IaC</a:t>
                      </a:r>
                      <a:r>
                        <a:rPr lang="en-US" sz="1100" b="0"/>
                        <a:t> for resource provisioning 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Build standard CI/CD process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 up Persona based access and roles definition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469926"/>
                  </a:ext>
                </a:extLst>
              </a:tr>
              <a:tr h="634956">
                <a:tc>
                  <a:txBody>
                    <a:bodyPr/>
                    <a:lstStyle/>
                    <a:p>
                      <a:pPr marL="0" lvl="1" indent="0" algn="l"/>
                      <a:r>
                        <a:rPr lang="en-US" sz="1400" b="1"/>
                        <a:t>Monitoring (model &amp; data)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/>
                        <a:t>Set up vertex-based model &amp; data monitoring</a:t>
                      </a:r>
                    </a:p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/>
                        <a:t>Build standardized and templated monitoring services 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Set up standard cloud logging and monitoring for services (with visualization)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98814"/>
                  </a:ext>
                </a:extLst>
              </a:tr>
              <a:tr h="107246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Software Engineering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Establish code development reviews process and  documentation </a:t>
                      </a:r>
                    </a:p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Set up lint, code style checks, others checks along with its integration with CI/CD</a:t>
                      </a:r>
                    </a:p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Write unit test, integration tests and other tests in CI/CD</a:t>
                      </a:r>
                    </a:p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Establish branching strategy and code promotion with proper release management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510554"/>
                  </a:ext>
                </a:extLst>
              </a:tr>
              <a:tr h="107246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Architecture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Build standard, configurable and scalable framework to address all AI use-cases e.g. DL, NLP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Create modularized / microservices-based framework for seamless customizations at later stages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Set up external Data source integration framework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555261"/>
                  </a:ext>
                </a:extLst>
              </a:tr>
              <a:tr h="58092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Ways of Working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/>
                        <a:t>Set up process for </a:t>
                      </a:r>
                      <a:r>
                        <a:rPr lang="en-U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</a:t>
                      </a:r>
                      <a:r>
                        <a:rPr lang="en-US" sz="1100" b="0"/>
                        <a:t> product release documentation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Collaborate and build Cultural Adoption of the incorporated features</a:t>
                      </a:r>
                    </a:p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14427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403C096B-BD92-46A7-94B4-3A5953F64C03}"/>
              </a:ext>
            </a:extLst>
          </p:cNvPr>
          <p:cNvGrpSpPr/>
          <p:nvPr/>
        </p:nvGrpSpPr>
        <p:grpSpPr>
          <a:xfrm>
            <a:off x="4659288" y="6575540"/>
            <a:ext cx="2873423" cy="261610"/>
            <a:chOff x="7941673" y="1314533"/>
            <a:chExt cx="2873423" cy="261610"/>
          </a:xfrm>
        </p:grpSpPr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6781F411-5DC9-4733-B1A9-16F957D3E5FC}"/>
                </a:ext>
              </a:extLst>
            </p:cNvPr>
            <p:cNvSpPr/>
            <p:nvPr/>
          </p:nvSpPr>
          <p:spPr>
            <a:xfrm>
              <a:off x="7941673" y="1362100"/>
              <a:ext cx="175260" cy="151086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6FA0BA44-2B90-4508-9B82-B1B9ED6B686F}"/>
                </a:ext>
              </a:extLst>
            </p:cNvPr>
            <p:cNvSpPr/>
            <p:nvPr/>
          </p:nvSpPr>
          <p:spPr>
            <a:xfrm>
              <a:off x="10076861" y="1362100"/>
              <a:ext cx="175260" cy="15108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8CAFED-759F-4B82-831F-D7004AE58AC6}"/>
                </a:ext>
              </a:extLst>
            </p:cNvPr>
            <p:cNvSpPr txBox="1"/>
            <p:nvPr/>
          </p:nvSpPr>
          <p:spPr>
            <a:xfrm>
              <a:off x="8116932" y="1314533"/>
              <a:ext cx="9108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/>
                <a:t>Current avg.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832839C-4A2C-4691-8ADD-FDB2EB02F254}"/>
                </a:ext>
              </a:extLst>
            </p:cNvPr>
            <p:cNvSpPr txBox="1"/>
            <p:nvPr/>
          </p:nvSpPr>
          <p:spPr>
            <a:xfrm>
              <a:off x="10252121" y="1314533"/>
              <a:ext cx="5629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/>
                <a:t>Target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904CCAE-4043-4CCF-A1CF-DDE4F74C67AF}"/>
                </a:ext>
              </a:extLst>
            </p:cNvPr>
            <p:cNvSpPr/>
            <p:nvPr/>
          </p:nvSpPr>
          <p:spPr>
            <a:xfrm>
              <a:off x="8972120" y="1394369"/>
              <a:ext cx="175260" cy="865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648F8FC-6AE6-41B3-AF4C-B44AAC68FFDB}"/>
                </a:ext>
              </a:extLst>
            </p:cNvPr>
            <p:cNvSpPr txBox="1"/>
            <p:nvPr/>
          </p:nvSpPr>
          <p:spPr>
            <a:xfrm>
              <a:off x="9155861" y="1314533"/>
              <a:ext cx="10070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/>
                <a:t>Current range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53EF5C4-F90E-4112-95F6-6D2732426560}"/>
              </a:ext>
            </a:extLst>
          </p:cNvPr>
          <p:cNvGrpSpPr/>
          <p:nvPr/>
        </p:nvGrpSpPr>
        <p:grpSpPr>
          <a:xfrm>
            <a:off x="2786199" y="1795094"/>
            <a:ext cx="4432300" cy="418655"/>
            <a:chOff x="2786199" y="2093942"/>
            <a:chExt cx="4432300" cy="41865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610A773-C953-4777-96C8-70A939ED2003}"/>
                </a:ext>
              </a:extLst>
            </p:cNvPr>
            <p:cNvGrpSpPr/>
            <p:nvPr/>
          </p:nvGrpSpPr>
          <p:grpSpPr>
            <a:xfrm>
              <a:off x="2786199" y="2329717"/>
              <a:ext cx="4432300" cy="182880"/>
              <a:chOff x="3035300" y="2768093"/>
              <a:chExt cx="4432300" cy="182880"/>
            </a:xfrm>
          </p:grpSpPr>
          <p:cxnSp>
            <p:nvCxnSpPr>
              <p:cNvPr id="119" name="Straight Connector 80">
                <a:extLst>
                  <a:ext uri="{FF2B5EF4-FFF2-40B4-BE49-F238E27FC236}">
                    <a16:creationId xmlns:a16="http://schemas.microsoft.com/office/drawing/2014/main" id="{89203429-BA88-4ABE-8BA8-94649D46C9F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035300" y="2859533"/>
                <a:ext cx="4432300" cy="0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headEnd type="oval" w="med" len="med"/>
                <a:tailEnd type="oval" w="med" len="med"/>
              </a:ln>
              <a:effectLst/>
            </p:spPr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06E9727E-93B4-4137-99AF-BE909C709368}"/>
                  </a:ext>
                </a:extLst>
              </p:cNvPr>
              <p:cNvCxnSpPr/>
              <p:nvPr/>
            </p:nvCxnSpPr>
            <p:spPr>
              <a:xfrm>
                <a:off x="5694680" y="2768093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19E75325-6363-463D-BCD1-FAE8D6587893}"/>
                  </a:ext>
                </a:extLst>
              </p:cNvPr>
              <p:cNvCxnSpPr/>
              <p:nvPr/>
            </p:nvCxnSpPr>
            <p:spPr>
              <a:xfrm>
                <a:off x="4808220" y="2768093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BD834A39-893C-488F-AA06-0FA254ADFAD7}"/>
                  </a:ext>
                </a:extLst>
              </p:cNvPr>
              <p:cNvCxnSpPr/>
              <p:nvPr/>
            </p:nvCxnSpPr>
            <p:spPr>
              <a:xfrm>
                <a:off x="6581140" y="2768093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23" name="Isosceles Triangle 122">
                <a:extLst>
                  <a:ext uri="{FF2B5EF4-FFF2-40B4-BE49-F238E27FC236}">
                    <a16:creationId xmlns:a16="http://schemas.microsoft.com/office/drawing/2014/main" id="{C06DE7D8-870E-46F3-84A3-17F16B89BB67}"/>
                  </a:ext>
                </a:extLst>
              </p:cNvPr>
              <p:cNvSpPr/>
              <p:nvPr/>
            </p:nvSpPr>
            <p:spPr>
              <a:xfrm>
                <a:off x="6936366" y="2783990"/>
                <a:ext cx="175260" cy="151086"/>
              </a:xfrm>
              <a:prstGeom prst="triangl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4AF24009-DC6E-4974-9C82-510030FAE07D}"/>
                  </a:ext>
                </a:extLst>
              </p:cNvPr>
              <p:cNvCxnSpPr/>
              <p:nvPr/>
            </p:nvCxnSpPr>
            <p:spPr>
              <a:xfrm>
                <a:off x="3921760" y="2768093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CB4CF709-F72E-4A7A-A5F1-47110E093D44}"/>
                  </a:ext>
                </a:extLst>
              </p:cNvPr>
              <p:cNvSpPr/>
              <p:nvPr/>
            </p:nvSpPr>
            <p:spPr>
              <a:xfrm>
                <a:off x="5007345" y="2817110"/>
                <a:ext cx="793910" cy="9875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Isosceles Triangle 125">
                <a:extLst>
                  <a:ext uri="{FF2B5EF4-FFF2-40B4-BE49-F238E27FC236}">
                    <a16:creationId xmlns:a16="http://schemas.microsoft.com/office/drawing/2014/main" id="{4792D1FE-5788-4224-8D0D-1C7B67B2BAEF}"/>
                  </a:ext>
                </a:extLst>
              </p:cNvPr>
              <p:cNvSpPr/>
              <p:nvPr/>
            </p:nvSpPr>
            <p:spPr>
              <a:xfrm>
                <a:off x="5163820" y="2783990"/>
                <a:ext cx="175260" cy="151086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DD174CA-5C7E-460C-AB89-8011CD6CDBBA}"/>
                </a:ext>
              </a:extLst>
            </p:cNvPr>
            <p:cNvSpPr/>
            <p:nvPr/>
          </p:nvSpPr>
          <p:spPr>
            <a:xfrm>
              <a:off x="4746918" y="2093942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2.5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B35D175-38E6-48C5-8105-8BB168B75541}"/>
                </a:ext>
              </a:extLst>
            </p:cNvPr>
            <p:cNvSpPr/>
            <p:nvPr/>
          </p:nvSpPr>
          <p:spPr>
            <a:xfrm>
              <a:off x="6424296" y="2093942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4.5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E4C7626-95DF-49FC-A0E1-C3769491EB64}"/>
              </a:ext>
            </a:extLst>
          </p:cNvPr>
          <p:cNvGrpSpPr/>
          <p:nvPr/>
        </p:nvGrpSpPr>
        <p:grpSpPr>
          <a:xfrm>
            <a:off x="2786199" y="2611033"/>
            <a:ext cx="4432300" cy="416625"/>
            <a:chOff x="2786199" y="2793004"/>
            <a:chExt cx="4432300" cy="41662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53BCE9B-0AFA-42EA-9CC9-EA9548D185E5}"/>
                </a:ext>
              </a:extLst>
            </p:cNvPr>
            <p:cNvGrpSpPr/>
            <p:nvPr/>
          </p:nvGrpSpPr>
          <p:grpSpPr>
            <a:xfrm>
              <a:off x="2786199" y="3026749"/>
              <a:ext cx="4432300" cy="182880"/>
              <a:chOff x="3035300" y="2768093"/>
              <a:chExt cx="4432300" cy="182880"/>
            </a:xfrm>
          </p:grpSpPr>
          <p:cxnSp>
            <p:nvCxnSpPr>
              <p:cNvPr id="71" name="Straight Connector 80">
                <a:extLst>
                  <a:ext uri="{FF2B5EF4-FFF2-40B4-BE49-F238E27FC236}">
                    <a16:creationId xmlns:a16="http://schemas.microsoft.com/office/drawing/2014/main" id="{BFACFBE0-1BB5-4475-8836-BFF9CB1461C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035300" y="2859533"/>
                <a:ext cx="4432300" cy="0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headEnd type="oval" w="med" len="med"/>
                <a:tailEnd type="oval" w="med" len="med"/>
              </a:ln>
              <a:effectLst/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2164F137-D110-48DD-AFF5-732E735E2263}"/>
                  </a:ext>
                </a:extLst>
              </p:cNvPr>
              <p:cNvCxnSpPr/>
              <p:nvPr/>
            </p:nvCxnSpPr>
            <p:spPr>
              <a:xfrm>
                <a:off x="5694680" y="2768093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D06E720-0EEB-42E8-B58E-283E5C5A72C0}"/>
                  </a:ext>
                </a:extLst>
              </p:cNvPr>
              <p:cNvCxnSpPr/>
              <p:nvPr/>
            </p:nvCxnSpPr>
            <p:spPr>
              <a:xfrm>
                <a:off x="4808220" y="2768093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EFEA46D-2825-4804-B894-F9A9FBD1D8BF}"/>
                  </a:ext>
                </a:extLst>
              </p:cNvPr>
              <p:cNvCxnSpPr/>
              <p:nvPr/>
            </p:nvCxnSpPr>
            <p:spPr>
              <a:xfrm>
                <a:off x="6581140" y="2768093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4904336C-96EC-408A-807B-8F195C43F1C4}"/>
                  </a:ext>
                </a:extLst>
              </p:cNvPr>
              <p:cNvSpPr/>
              <p:nvPr/>
            </p:nvSpPr>
            <p:spPr>
              <a:xfrm>
                <a:off x="7050722" y="2783990"/>
                <a:ext cx="175260" cy="151086"/>
              </a:xfrm>
              <a:prstGeom prst="triangl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F13019B-53C5-4111-BADF-8242DB518972}"/>
                  </a:ext>
                </a:extLst>
              </p:cNvPr>
              <p:cNvCxnSpPr/>
              <p:nvPr/>
            </p:nvCxnSpPr>
            <p:spPr>
              <a:xfrm>
                <a:off x="3921760" y="2768093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F14C0784-BC90-46A3-A4F6-212DD6F2A1CF}"/>
                  </a:ext>
                </a:extLst>
              </p:cNvPr>
              <p:cNvSpPr/>
              <p:nvPr/>
            </p:nvSpPr>
            <p:spPr>
              <a:xfrm>
                <a:off x="5647035" y="2831625"/>
                <a:ext cx="822622" cy="8164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Isosceles Triangle 74">
                <a:extLst>
                  <a:ext uri="{FF2B5EF4-FFF2-40B4-BE49-F238E27FC236}">
                    <a16:creationId xmlns:a16="http://schemas.microsoft.com/office/drawing/2014/main" id="{B5ABED20-A740-4DD2-A778-8BA33C607971}"/>
                  </a:ext>
                </a:extLst>
              </p:cNvPr>
              <p:cNvSpPr/>
              <p:nvPr/>
            </p:nvSpPr>
            <p:spPr>
              <a:xfrm>
                <a:off x="5738074" y="2783990"/>
                <a:ext cx="175260" cy="151086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95042C1-D914-4986-B55E-9B7972628E0B}"/>
                </a:ext>
              </a:extLst>
            </p:cNvPr>
            <p:cNvSpPr/>
            <p:nvPr/>
          </p:nvSpPr>
          <p:spPr>
            <a:xfrm>
              <a:off x="5278011" y="2850811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3.1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DCCA7FE-AB13-4326-8853-A76B44E7740A}"/>
                </a:ext>
              </a:extLst>
            </p:cNvPr>
            <p:cNvSpPr/>
            <p:nvPr/>
          </p:nvSpPr>
          <p:spPr>
            <a:xfrm>
              <a:off x="6580338" y="2793004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4.7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163C93C-B40A-4B12-93C7-99CF7347BAD8}"/>
              </a:ext>
            </a:extLst>
          </p:cNvPr>
          <p:cNvGrpSpPr/>
          <p:nvPr/>
        </p:nvGrpSpPr>
        <p:grpSpPr>
          <a:xfrm>
            <a:off x="2786199" y="3479819"/>
            <a:ext cx="4432300" cy="389470"/>
            <a:chOff x="2786199" y="3595216"/>
            <a:chExt cx="4432300" cy="389470"/>
          </a:xfrm>
        </p:grpSpPr>
        <p:cxnSp>
          <p:nvCxnSpPr>
            <p:cNvPr id="79" name="Straight Connector 80">
              <a:extLst>
                <a:ext uri="{FF2B5EF4-FFF2-40B4-BE49-F238E27FC236}">
                  <a16:creationId xmlns:a16="http://schemas.microsoft.com/office/drawing/2014/main" id="{3AEBE565-E50E-4C07-9C53-19FAF144F0B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86199" y="3893246"/>
              <a:ext cx="4432300" cy="0"/>
            </a:xfrm>
            <a:prstGeom prst="line">
              <a:avLst/>
            </a:prstGeom>
            <a:noFill/>
            <a:ln w="38100" cap="flat" cmpd="sng" algn="ctr">
              <a:solidFill>
                <a:sysClr val="window" lastClr="FFFFFF">
                  <a:lumMod val="65000"/>
                </a:sysClr>
              </a:solidFill>
              <a:prstDash val="solid"/>
              <a:headEnd type="oval" w="med" len="med"/>
              <a:tailEnd type="oval" w="med" len="med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D741CBF-05EA-497B-8A5E-76DB471B46FC}"/>
                </a:ext>
              </a:extLst>
            </p:cNvPr>
            <p:cNvCxnSpPr/>
            <p:nvPr/>
          </p:nvCxnSpPr>
          <p:spPr>
            <a:xfrm>
              <a:off x="5445579" y="3801806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995DEC0-44E5-49DD-9CDA-12CAB45A0A92}"/>
                </a:ext>
              </a:extLst>
            </p:cNvPr>
            <p:cNvCxnSpPr/>
            <p:nvPr/>
          </p:nvCxnSpPr>
          <p:spPr>
            <a:xfrm>
              <a:off x="4559119" y="3801806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F55248D-3CDB-4D35-8058-B8D71EAFE8BE}"/>
                </a:ext>
              </a:extLst>
            </p:cNvPr>
            <p:cNvCxnSpPr/>
            <p:nvPr/>
          </p:nvCxnSpPr>
          <p:spPr>
            <a:xfrm>
              <a:off x="6332039" y="3801806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84" name="Isosceles Triangle 83">
              <a:extLst>
                <a:ext uri="{FF2B5EF4-FFF2-40B4-BE49-F238E27FC236}">
                  <a16:creationId xmlns:a16="http://schemas.microsoft.com/office/drawing/2014/main" id="{06BDBEEF-478B-4765-9057-306F0792BEF2}"/>
                </a:ext>
              </a:extLst>
            </p:cNvPr>
            <p:cNvSpPr/>
            <p:nvPr/>
          </p:nvSpPr>
          <p:spPr>
            <a:xfrm>
              <a:off x="6244446" y="3817703"/>
              <a:ext cx="175260" cy="15108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D8416D7-656B-4D97-8821-F3328CCF6FF4}"/>
                </a:ext>
              </a:extLst>
            </p:cNvPr>
            <p:cNvCxnSpPr/>
            <p:nvPr/>
          </p:nvCxnSpPr>
          <p:spPr>
            <a:xfrm>
              <a:off x="3672659" y="3801806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464E632-7483-4D91-9064-21737DAE2226}"/>
                </a:ext>
              </a:extLst>
            </p:cNvPr>
            <p:cNvSpPr/>
            <p:nvPr/>
          </p:nvSpPr>
          <p:spPr>
            <a:xfrm>
              <a:off x="4136144" y="3868044"/>
              <a:ext cx="741745" cy="865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A7372B2-E7AB-4851-9A11-40912BCD502C}"/>
                </a:ext>
              </a:extLst>
            </p:cNvPr>
            <p:cNvSpPr/>
            <p:nvPr/>
          </p:nvSpPr>
          <p:spPr>
            <a:xfrm>
              <a:off x="4182051" y="3610739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1.9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67C41D1-E63F-4B4B-8489-22AEAA1E4C1E}"/>
                </a:ext>
              </a:extLst>
            </p:cNvPr>
            <p:cNvSpPr/>
            <p:nvPr/>
          </p:nvSpPr>
          <p:spPr>
            <a:xfrm>
              <a:off x="6013368" y="3595216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4.0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E0DCB7-87B9-40A3-ABF5-58ABAA13E597}"/>
              </a:ext>
            </a:extLst>
          </p:cNvPr>
          <p:cNvGrpSpPr/>
          <p:nvPr/>
        </p:nvGrpSpPr>
        <p:grpSpPr>
          <a:xfrm>
            <a:off x="2786199" y="4252914"/>
            <a:ext cx="4432300" cy="416309"/>
            <a:chOff x="2786199" y="4309066"/>
            <a:chExt cx="4432300" cy="416309"/>
          </a:xfrm>
        </p:grpSpPr>
        <p:cxnSp>
          <p:nvCxnSpPr>
            <p:cNvPr id="87" name="Straight Connector 80">
              <a:extLst>
                <a:ext uri="{FF2B5EF4-FFF2-40B4-BE49-F238E27FC236}">
                  <a16:creationId xmlns:a16="http://schemas.microsoft.com/office/drawing/2014/main" id="{601DE9C1-6B0F-467F-8D59-0B84E61BD54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86199" y="4633935"/>
              <a:ext cx="4432300" cy="0"/>
            </a:xfrm>
            <a:prstGeom prst="line">
              <a:avLst/>
            </a:prstGeom>
            <a:noFill/>
            <a:ln w="38100" cap="flat" cmpd="sng" algn="ctr">
              <a:solidFill>
                <a:sysClr val="window" lastClr="FFFFFF">
                  <a:lumMod val="65000"/>
                </a:sysClr>
              </a:solidFill>
              <a:prstDash val="solid"/>
              <a:headEnd type="oval" w="med" len="med"/>
              <a:tailEnd type="oval" w="med" len="med"/>
            </a:ln>
            <a:effectLst/>
          </p:spPr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38E7ED6-9133-4977-ADCA-9F64759281D9}"/>
                </a:ext>
              </a:extLst>
            </p:cNvPr>
            <p:cNvCxnSpPr/>
            <p:nvPr/>
          </p:nvCxnSpPr>
          <p:spPr>
            <a:xfrm>
              <a:off x="5445579" y="4542495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81F5DA8-9790-4ECD-9A31-79B6DEBB7ED2}"/>
                </a:ext>
              </a:extLst>
            </p:cNvPr>
            <p:cNvCxnSpPr/>
            <p:nvPr/>
          </p:nvCxnSpPr>
          <p:spPr>
            <a:xfrm>
              <a:off x="4559119" y="4542495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5990866-7526-4E48-813B-9AFB6D967748}"/>
                </a:ext>
              </a:extLst>
            </p:cNvPr>
            <p:cNvCxnSpPr/>
            <p:nvPr/>
          </p:nvCxnSpPr>
          <p:spPr>
            <a:xfrm>
              <a:off x="6332039" y="4542495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92" name="Isosceles Triangle 91">
              <a:extLst>
                <a:ext uri="{FF2B5EF4-FFF2-40B4-BE49-F238E27FC236}">
                  <a16:creationId xmlns:a16="http://schemas.microsoft.com/office/drawing/2014/main" id="{CD649C83-C823-47AE-837A-BBDC218FBDDD}"/>
                </a:ext>
              </a:extLst>
            </p:cNvPr>
            <p:cNvSpPr/>
            <p:nvPr/>
          </p:nvSpPr>
          <p:spPr>
            <a:xfrm>
              <a:off x="6772445" y="4558392"/>
              <a:ext cx="175260" cy="15108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7D4CB8F-7466-46FC-AF55-ADD81F3F53F8}"/>
                </a:ext>
              </a:extLst>
            </p:cNvPr>
            <p:cNvCxnSpPr/>
            <p:nvPr/>
          </p:nvCxnSpPr>
          <p:spPr>
            <a:xfrm>
              <a:off x="3672659" y="4542495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3829E4B-0106-431E-9BCB-9E9A2271E23F}"/>
                </a:ext>
              </a:extLst>
            </p:cNvPr>
            <p:cNvSpPr/>
            <p:nvPr/>
          </p:nvSpPr>
          <p:spPr>
            <a:xfrm flipV="1">
              <a:off x="4747748" y="4591702"/>
              <a:ext cx="650186" cy="1276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52EB8BDF-E96B-491A-B6E9-2C772430DDDF}"/>
                </a:ext>
              </a:extLst>
            </p:cNvPr>
            <p:cNvSpPr/>
            <p:nvPr/>
          </p:nvSpPr>
          <p:spPr>
            <a:xfrm>
              <a:off x="5008421" y="4558392"/>
              <a:ext cx="175260" cy="151086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583ED3E-25E1-4981-91CF-D372076DE607}"/>
                </a:ext>
              </a:extLst>
            </p:cNvPr>
            <p:cNvSpPr/>
            <p:nvPr/>
          </p:nvSpPr>
          <p:spPr>
            <a:xfrm>
              <a:off x="4791016" y="4309066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2.7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154B777-D7CB-45C3-A56B-BCBEDF83AEF3}"/>
                </a:ext>
              </a:extLst>
            </p:cNvPr>
            <p:cNvSpPr/>
            <p:nvPr/>
          </p:nvSpPr>
          <p:spPr>
            <a:xfrm>
              <a:off x="6563243" y="4309066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4.7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4AD903D-E5AE-411C-88BE-4D7C7F58D9C6}"/>
              </a:ext>
            </a:extLst>
          </p:cNvPr>
          <p:cNvGrpSpPr/>
          <p:nvPr/>
        </p:nvGrpSpPr>
        <p:grpSpPr>
          <a:xfrm>
            <a:off x="2786199" y="5290465"/>
            <a:ext cx="4432300" cy="412677"/>
            <a:chOff x="2786199" y="5048166"/>
            <a:chExt cx="4432300" cy="412677"/>
          </a:xfrm>
        </p:grpSpPr>
        <p:cxnSp>
          <p:nvCxnSpPr>
            <p:cNvPr id="95" name="Straight Connector 80">
              <a:extLst>
                <a:ext uri="{FF2B5EF4-FFF2-40B4-BE49-F238E27FC236}">
                  <a16:creationId xmlns:a16="http://schemas.microsoft.com/office/drawing/2014/main" id="{02F9A458-FE99-43BF-AFF2-67E2C54FE8B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86199" y="5369403"/>
              <a:ext cx="4432300" cy="0"/>
            </a:xfrm>
            <a:prstGeom prst="line">
              <a:avLst/>
            </a:prstGeom>
            <a:noFill/>
            <a:ln w="38100" cap="flat" cmpd="sng" algn="ctr">
              <a:solidFill>
                <a:sysClr val="window" lastClr="FFFFFF">
                  <a:lumMod val="65000"/>
                </a:sysClr>
              </a:solidFill>
              <a:prstDash val="solid"/>
              <a:headEnd type="oval" w="med" len="med"/>
              <a:tailEnd type="oval" w="med" len="med"/>
            </a:ln>
            <a:effectLst/>
          </p:spPr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97380B0-B64B-4275-BB1F-8419740A5CB1}"/>
                </a:ext>
              </a:extLst>
            </p:cNvPr>
            <p:cNvCxnSpPr/>
            <p:nvPr/>
          </p:nvCxnSpPr>
          <p:spPr>
            <a:xfrm>
              <a:off x="5445579" y="5277963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091226A-61E3-4670-9F9E-2DA7A6EC64D2}"/>
                </a:ext>
              </a:extLst>
            </p:cNvPr>
            <p:cNvCxnSpPr/>
            <p:nvPr/>
          </p:nvCxnSpPr>
          <p:spPr>
            <a:xfrm>
              <a:off x="4559119" y="5277963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6EC2679-EE7C-4E8B-9BEF-7455577473FA}"/>
                </a:ext>
              </a:extLst>
            </p:cNvPr>
            <p:cNvCxnSpPr/>
            <p:nvPr/>
          </p:nvCxnSpPr>
          <p:spPr>
            <a:xfrm>
              <a:off x="6332039" y="5277963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23AC888E-FD04-4E86-9CE4-1B322D481B60}"/>
                </a:ext>
              </a:extLst>
            </p:cNvPr>
            <p:cNvSpPr/>
            <p:nvPr/>
          </p:nvSpPr>
          <p:spPr>
            <a:xfrm>
              <a:off x="6496844" y="5293860"/>
              <a:ext cx="175260" cy="15108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D3AA472-0565-4D9E-A211-7BA56C541C63}"/>
                </a:ext>
              </a:extLst>
            </p:cNvPr>
            <p:cNvCxnSpPr/>
            <p:nvPr/>
          </p:nvCxnSpPr>
          <p:spPr>
            <a:xfrm>
              <a:off x="3672659" y="5277963"/>
              <a:ext cx="0" cy="182880"/>
            </a:xfrm>
            <a:prstGeom prst="line">
              <a:avLst/>
            </a:prstGeom>
            <a:noFill/>
            <a:ln w="28575" cap="flat">
              <a:solidFill>
                <a:srgbClr val="A6A6A6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B365BF2-327C-4263-96D3-0254517B8085}"/>
                </a:ext>
              </a:extLst>
            </p:cNvPr>
            <p:cNvSpPr/>
            <p:nvPr/>
          </p:nvSpPr>
          <p:spPr>
            <a:xfrm>
              <a:off x="3689516" y="5330807"/>
              <a:ext cx="790937" cy="1038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D6C2E8F2-C0C5-4742-8004-1245BA39E7BC}"/>
                </a:ext>
              </a:extLst>
            </p:cNvPr>
            <p:cNvSpPr/>
            <p:nvPr/>
          </p:nvSpPr>
          <p:spPr>
            <a:xfrm>
              <a:off x="3927097" y="5293860"/>
              <a:ext cx="175260" cy="151086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38BECE7-67B1-4196-AEAA-83C09B9FFE0F}"/>
                </a:ext>
              </a:extLst>
            </p:cNvPr>
            <p:cNvSpPr/>
            <p:nvPr/>
          </p:nvSpPr>
          <p:spPr>
            <a:xfrm>
              <a:off x="3722537" y="5059741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1.5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7F12AD6-A459-4E36-BF03-8B43645D2032}"/>
                </a:ext>
              </a:extLst>
            </p:cNvPr>
            <p:cNvSpPr/>
            <p:nvPr/>
          </p:nvSpPr>
          <p:spPr>
            <a:xfrm>
              <a:off x="6300950" y="5048166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4.3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99DEE23-4244-47CB-8C98-AB0BD531618C}"/>
              </a:ext>
            </a:extLst>
          </p:cNvPr>
          <p:cNvGrpSpPr/>
          <p:nvPr/>
        </p:nvGrpSpPr>
        <p:grpSpPr>
          <a:xfrm>
            <a:off x="2786199" y="6213188"/>
            <a:ext cx="4432300" cy="348127"/>
            <a:chOff x="2786199" y="5892146"/>
            <a:chExt cx="4432300" cy="348127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9A1CA294-8D1F-482E-9CE5-25C9981CD712}"/>
                </a:ext>
              </a:extLst>
            </p:cNvPr>
            <p:cNvGrpSpPr/>
            <p:nvPr/>
          </p:nvGrpSpPr>
          <p:grpSpPr>
            <a:xfrm>
              <a:off x="2786199" y="6057393"/>
              <a:ext cx="4432300" cy="182880"/>
              <a:chOff x="3035300" y="1742881"/>
              <a:chExt cx="4432300" cy="182880"/>
            </a:xfrm>
          </p:grpSpPr>
          <p:cxnSp>
            <p:nvCxnSpPr>
              <p:cNvPr id="103" name="Straight Connector 80">
                <a:extLst>
                  <a:ext uri="{FF2B5EF4-FFF2-40B4-BE49-F238E27FC236}">
                    <a16:creationId xmlns:a16="http://schemas.microsoft.com/office/drawing/2014/main" id="{C40C1B4D-DD2A-48F1-A189-772092D88C7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035300" y="1834321"/>
                <a:ext cx="4432300" cy="0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headEnd type="oval" w="med" len="med"/>
                <a:tailEnd type="oval" w="med" len="med"/>
              </a:ln>
              <a:effectLst/>
            </p:spPr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202E6E71-C59D-4CEE-B606-AC93A2A18E85}"/>
                  </a:ext>
                </a:extLst>
              </p:cNvPr>
              <p:cNvCxnSpPr/>
              <p:nvPr/>
            </p:nvCxnSpPr>
            <p:spPr>
              <a:xfrm>
                <a:off x="5694680" y="1742881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FC4E4D25-288C-485A-97CB-FC65F8C74AB2}"/>
                  </a:ext>
                </a:extLst>
              </p:cNvPr>
              <p:cNvCxnSpPr/>
              <p:nvPr/>
            </p:nvCxnSpPr>
            <p:spPr>
              <a:xfrm>
                <a:off x="4808220" y="1742881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8260E515-F754-4B3B-A2A9-C9576133ED7E}"/>
                  </a:ext>
                </a:extLst>
              </p:cNvPr>
              <p:cNvCxnSpPr/>
              <p:nvPr/>
            </p:nvCxnSpPr>
            <p:spPr>
              <a:xfrm>
                <a:off x="6581140" y="1742881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9F9E360D-5268-423B-A514-A4E4D19C6994}"/>
                  </a:ext>
                </a:extLst>
              </p:cNvPr>
              <p:cNvSpPr/>
              <p:nvPr/>
            </p:nvSpPr>
            <p:spPr>
              <a:xfrm>
                <a:off x="6677691" y="1750311"/>
                <a:ext cx="175260" cy="151086"/>
              </a:xfrm>
              <a:prstGeom prst="triangl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2F4D9BA2-D0D5-48BB-AB06-1358BF8B0BFD}"/>
                  </a:ext>
                </a:extLst>
              </p:cNvPr>
              <p:cNvCxnSpPr/>
              <p:nvPr/>
            </p:nvCxnSpPr>
            <p:spPr>
              <a:xfrm>
                <a:off x="3921760" y="1742881"/>
                <a:ext cx="0" cy="182880"/>
              </a:xfrm>
              <a:prstGeom prst="line">
                <a:avLst/>
              </a:prstGeom>
              <a:noFill/>
              <a:ln w="28575" cap="flat">
                <a:solidFill>
                  <a:srgbClr val="A6A6A6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7BA307D6-974B-44E0-BC7E-ADA4EE94534C}"/>
                </a:ext>
              </a:extLst>
            </p:cNvPr>
            <p:cNvSpPr/>
            <p:nvPr/>
          </p:nvSpPr>
          <p:spPr>
            <a:xfrm>
              <a:off x="6202156" y="5892146"/>
              <a:ext cx="569054" cy="2217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ysClr val="windowText" lastClr="000000"/>
                  </a:solidFill>
                </a:rPr>
                <a:t>4.2</a:t>
              </a:r>
            </a:p>
          </p:txBody>
        </p:sp>
      </p:grpSp>
      <p:sp>
        <p:nvSpPr>
          <p:cNvPr id="137" name="Isosceles Triangle 136">
            <a:extLst>
              <a:ext uri="{FF2B5EF4-FFF2-40B4-BE49-F238E27FC236}">
                <a16:creationId xmlns:a16="http://schemas.microsoft.com/office/drawing/2014/main" id="{22994AEE-7DD2-4C7A-836F-8F32E357AE6E}"/>
              </a:ext>
            </a:extLst>
          </p:cNvPr>
          <p:cNvSpPr/>
          <p:nvPr/>
        </p:nvSpPr>
        <p:spPr>
          <a:xfrm>
            <a:off x="4362824" y="3713563"/>
            <a:ext cx="175260" cy="15108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B09F40-BCA4-4BB4-BF44-CF411DE94A93}"/>
              </a:ext>
            </a:extLst>
          </p:cNvPr>
          <p:cNvSpPr txBox="1"/>
          <p:nvPr/>
        </p:nvSpPr>
        <p:spPr>
          <a:xfrm>
            <a:off x="-50063" y="819790"/>
            <a:ext cx="9593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Current state assessment scores based on interviews &amp; feedback from GMI team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EF0D663-0147-4CEE-ABA2-10D9A2525763}"/>
              </a:ext>
            </a:extLst>
          </p:cNvPr>
          <p:cNvSpPr/>
          <p:nvPr/>
        </p:nvSpPr>
        <p:spPr>
          <a:xfrm>
            <a:off x="4584927" y="6193027"/>
            <a:ext cx="814187" cy="221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2.5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2B27364-915F-456C-A766-71031A0AB133}"/>
              </a:ext>
            </a:extLst>
          </p:cNvPr>
          <p:cNvSpPr/>
          <p:nvPr/>
        </p:nvSpPr>
        <p:spPr>
          <a:xfrm>
            <a:off x="4607927" y="6423805"/>
            <a:ext cx="790937" cy="1038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Isosceles Triangle 139">
            <a:extLst>
              <a:ext uri="{FF2B5EF4-FFF2-40B4-BE49-F238E27FC236}">
                <a16:creationId xmlns:a16="http://schemas.microsoft.com/office/drawing/2014/main" id="{BC7831F6-AB74-49CE-88B4-62AD76395725}"/>
              </a:ext>
            </a:extLst>
          </p:cNvPr>
          <p:cNvSpPr/>
          <p:nvPr/>
        </p:nvSpPr>
        <p:spPr>
          <a:xfrm>
            <a:off x="4927866" y="6396884"/>
            <a:ext cx="175260" cy="15108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Continuous Improvement outline">
            <a:extLst>
              <a:ext uri="{FF2B5EF4-FFF2-40B4-BE49-F238E27FC236}">
                <a16:creationId xmlns:a16="http://schemas.microsoft.com/office/drawing/2014/main" id="{EEF7D376-AB8B-E27F-411E-72BBEB3D9B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0985" y="1826153"/>
            <a:ext cx="433935" cy="433021"/>
          </a:xfrm>
          <a:prstGeom prst="rect">
            <a:avLst/>
          </a:prstGeom>
        </p:spPr>
      </p:pic>
      <p:pic>
        <p:nvPicPr>
          <p:cNvPr id="21" name="Graphic 20" descr="Production with solid fill">
            <a:extLst>
              <a:ext uri="{FF2B5EF4-FFF2-40B4-BE49-F238E27FC236}">
                <a16:creationId xmlns:a16="http://schemas.microsoft.com/office/drawing/2014/main" id="{AB7122EC-4F5E-09F5-74CE-D64DF542BE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1873" y="2732623"/>
            <a:ext cx="433021" cy="433021"/>
          </a:xfrm>
          <a:prstGeom prst="rect">
            <a:avLst/>
          </a:prstGeom>
        </p:spPr>
      </p:pic>
      <p:pic>
        <p:nvPicPr>
          <p:cNvPr id="10" name="Graphic 9" descr="Security camera with solid fill">
            <a:extLst>
              <a:ext uri="{FF2B5EF4-FFF2-40B4-BE49-F238E27FC236}">
                <a16:creationId xmlns:a16="http://schemas.microsoft.com/office/drawing/2014/main" id="{52ACD09A-F3FC-0D78-CA58-E2D36B94B1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3063" y="3612512"/>
            <a:ext cx="431997" cy="431997"/>
          </a:xfrm>
          <a:prstGeom prst="rect">
            <a:avLst/>
          </a:prstGeom>
        </p:spPr>
      </p:pic>
      <p:pic>
        <p:nvPicPr>
          <p:cNvPr id="17" name="Graphic 16" descr="Programmer male with solid fill">
            <a:extLst>
              <a:ext uri="{FF2B5EF4-FFF2-40B4-BE49-F238E27FC236}">
                <a16:creationId xmlns:a16="http://schemas.microsoft.com/office/drawing/2014/main" id="{0B8EFCB4-BB8C-73B7-39ED-AACB73DD69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7116" y="4354142"/>
            <a:ext cx="447282" cy="447282"/>
          </a:xfrm>
          <a:prstGeom prst="rect">
            <a:avLst/>
          </a:prstGeom>
        </p:spPr>
      </p:pic>
      <p:pic>
        <p:nvPicPr>
          <p:cNvPr id="22" name="Graphic 21" descr="Cheers with solid fill">
            <a:extLst>
              <a:ext uri="{FF2B5EF4-FFF2-40B4-BE49-F238E27FC236}">
                <a16:creationId xmlns:a16="http://schemas.microsoft.com/office/drawing/2014/main" id="{DC3D9618-8A72-A212-5A8A-828193D22F4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154" y="6328713"/>
            <a:ext cx="365125" cy="365125"/>
          </a:xfrm>
          <a:prstGeom prst="rect">
            <a:avLst/>
          </a:prstGeom>
        </p:spPr>
      </p:pic>
      <p:pic>
        <p:nvPicPr>
          <p:cNvPr id="27" name="Graphic 26" descr="Aspiration with solid fill">
            <a:extLst>
              <a:ext uri="{FF2B5EF4-FFF2-40B4-BE49-F238E27FC236}">
                <a16:creationId xmlns:a16="http://schemas.microsoft.com/office/drawing/2014/main" id="{B3A58430-97E7-6E08-7988-97076955C7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1873" y="5462681"/>
            <a:ext cx="452551" cy="4525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74650E-E842-E4B8-A37D-54A86C5445D0}"/>
              </a:ext>
            </a:extLst>
          </p:cNvPr>
          <p:cNvSpPr txBox="1"/>
          <p:nvPr/>
        </p:nvSpPr>
        <p:spPr>
          <a:xfrm>
            <a:off x="8648701" y="132348"/>
            <a:ext cx="354330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/>
              <a:t>Make sure that these are relevant and add anything that you have learned recently</a:t>
            </a:r>
          </a:p>
        </p:txBody>
      </p:sp>
    </p:spTree>
    <p:extLst>
      <p:ext uri="{BB962C8B-B14F-4D97-AF65-F5344CB8AC3E}">
        <p14:creationId xmlns:p14="http://schemas.microsoft.com/office/powerpoint/2010/main" val="264414532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A92C60F-5257-4301-BA2E-E501789D52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0" imgH="469" progId="TCLayout.ActiveDocument.1">
                  <p:embed/>
                </p:oleObj>
              </mc:Choice>
              <mc:Fallback>
                <p:oleObj name="think-cell Slide" r:id="rId5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A92C60F-5257-4301-BA2E-E501789D52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D4216566-97DE-45C9-A005-4A60E29773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3600">
              <a:latin typeface="Rockwell" panose="02060603020205020403" pitchFamily="18" charset="0"/>
              <a:ea typeface="+mj-ea"/>
              <a:cs typeface="+mj-cs"/>
              <a:sym typeface="Rockwell" panose="02060603020205020403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EAF8A-0D80-42EB-855F-C66B9535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>
                <a:latin typeface="Rockwell"/>
              </a:rPr>
              <a:t>Roadmap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4F789EE-F7DB-4E1C-84EC-AA405A417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134017"/>
              </p:ext>
            </p:extLst>
          </p:nvPr>
        </p:nvGraphicFramePr>
        <p:xfrm>
          <a:off x="104172" y="1241988"/>
          <a:ext cx="11805864" cy="5588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559148262"/>
                    </a:ext>
                  </a:extLst>
                </a:gridCol>
                <a:gridCol w="3295208">
                  <a:extLst>
                    <a:ext uri="{9D8B030D-6E8A-4147-A177-3AD203B41FA5}">
                      <a16:colId xmlns:a16="http://schemas.microsoft.com/office/drawing/2014/main" val="1057296211"/>
                    </a:ext>
                  </a:extLst>
                </a:gridCol>
                <a:gridCol w="3295208">
                  <a:extLst>
                    <a:ext uri="{9D8B030D-6E8A-4147-A177-3AD203B41FA5}">
                      <a16:colId xmlns:a16="http://schemas.microsoft.com/office/drawing/2014/main" val="2901892727"/>
                    </a:ext>
                  </a:extLst>
                </a:gridCol>
                <a:gridCol w="3295208">
                  <a:extLst>
                    <a:ext uri="{9D8B030D-6E8A-4147-A177-3AD203B41FA5}">
                      <a16:colId xmlns:a16="http://schemas.microsoft.com/office/drawing/2014/main" val="1278769582"/>
                    </a:ext>
                  </a:extLst>
                </a:gridCol>
              </a:tblGrid>
              <a:tr h="32868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Capability Category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Next 3 months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            3-6 months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             &gt; 6 months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69619"/>
                  </a:ext>
                </a:extLst>
              </a:tr>
              <a:tr h="927795">
                <a:tc>
                  <a:txBody>
                    <a:bodyPr/>
                    <a:lstStyle/>
                    <a:p>
                      <a:pPr marL="0" lvl="1" indent="0" algn="l"/>
                      <a:r>
                        <a:rPr lang="en-US" sz="1400" b="1"/>
                        <a:t>Data Science Lifecycle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665"/>
                  </a:ext>
                </a:extLst>
              </a:tr>
              <a:tr h="927795">
                <a:tc>
                  <a:txBody>
                    <a:bodyPr/>
                    <a:lstStyle/>
                    <a:p>
                      <a:pPr marL="0" lvl="1" indent="0" algn="l"/>
                      <a:r>
                        <a:rPr lang="en-US" sz="1400" b="1"/>
                        <a:t>Model Industrialization Approach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469926"/>
                  </a:ext>
                </a:extLst>
              </a:tr>
              <a:tr h="648357">
                <a:tc>
                  <a:txBody>
                    <a:bodyPr/>
                    <a:lstStyle/>
                    <a:p>
                      <a:pPr marL="0" lvl="1" indent="0" algn="l"/>
                      <a:r>
                        <a:rPr lang="en-US" sz="1400" b="1"/>
                        <a:t>Monitoring (model &amp; data)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98814"/>
                  </a:ext>
                </a:extLst>
              </a:tr>
              <a:tr h="1095103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Software Engineering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lvl="0" indent="-1111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510554"/>
                  </a:ext>
                </a:extLst>
              </a:tr>
              <a:tr h="106779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Architecture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555261"/>
                  </a:ext>
                </a:extLst>
              </a:tr>
              <a:tr h="59318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Ways of Working</a:t>
                      </a:r>
                    </a:p>
                  </a:txBody>
                  <a:tcPr marL="64008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 typeface="Arial" panose="020B0604020202020204" pitchFamily="34" charset="0"/>
                        <a:buChar char="•"/>
                      </a:pPr>
                      <a:endParaRPr lang="en-US" sz="1100" b="0"/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14427"/>
                  </a:ext>
                </a:extLst>
              </a:tr>
            </a:tbl>
          </a:graphicData>
        </a:graphic>
      </p:graphicFrame>
      <p:pic>
        <p:nvPicPr>
          <p:cNvPr id="15" name="Graphic 14" descr="Continuous Improvement outline">
            <a:extLst>
              <a:ext uri="{FF2B5EF4-FFF2-40B4-BE49-F238E27FC236}">
                <a16:creationId xmlns:a16="http://schemas.microsoft.com/office/drawing/2014/main" id="{EEF7D376-AB8B-E27F-411E-72BBEB3D9B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0985" y="1826153"/>
            <a:ext cx="433935" cy="433021"/>
          </a:xfrm>
          <a:prstGeom prst="rect">
            <a:avLst/>
          </a:prstGeom>
        </p:spPr>
      </p:pic>
      <p:pic>
        <p:nvPicPr>
          <p:cNvPr id="21" name="Graphic 20" descr="Production with solid fill">
            <a:extLst>
              <a:ext uri="{FF2B5EF4-FFF2-40B4-BE49-F238E27FC236}">
                <a16:creationId xmlns:a16="http://schemas.microsoft.com/office/drawing/2014/main" id="{AB7122EC-4F5E-09F5-74CE-D64DF542BE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1873" y="2732623"/>
            <a:ext cx="433021" cy="433021"/>
          </a:xfrm>
          <a:prstGeom prst="rect">
            <a:avLst/>
          </a:prstGeom>
        </p:spPr>
      </p:pic>
      <p:pic>
        <p:nvPicPr>
          <p:cNvPr id="10" name="Graphic 9" descr="Security camera with solid fill">
            <a:extLst>
              <a:ext uri="{FF2B5EF4-FFF2-40B4-BE49-F238E27FC236}">
                <a16:creationId xmlns:a16="http://schemas.microsoft.com/office/drawing/2014/main" id="{52ACD09A-F3FC-0D78-CA58-E2D36B94B1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3063" y="3612512"/>
            <a:ext cx="431997" cy="431997"/>
          </a:xfrm>
          <a:prstGeom prst="rect">
            <a:avLst/>
          </a:prstGeom>
        </p:spPr>
      </p:pic>
      <p:pic>
        <p:nvPicPr>
          <p:cNvPr id="17" name="Graphic 16" descr="Programmer male with solid fill">
            <a:extLst>
              <a:ext uri="{FF2B5EF4-FFF2-40B4-BE49-F238E27FC236}">
                <a16:creationId xmlns:a16="http://schemas.microsoft.com/office/drawing/2014/main" id="{0B8EFCB4-BB8C-73B7-39ED-AACB73DD69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7116" y="4354142"/>
            <a:ext cx="447282" cy="447282"/>
          </a:xfrm>
          <a:prstGeom prst="rect">
            <a:avLst/>
          </a:prstGeom>
        </p:spPr>
      </p:pic>
      <p:pic>
        <p:nvPicPr>
          <p:cNvPr id="22" name="Graphic 21" descr="Cheers with solid fill">
            <a:extLst>
              <a:ext uri="{FF2B5EF4-FFF2-40B4-BE49-F238E27FC236}">
                <a16:creationId xmlns:a16="http://schemas.microsoft.com/office/drawing/2014/main" id="{DC3D9618-8A72-A212-5A8A-828193D22F4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154" y="6328713"/>
            <a:ext cx="365125" cy="365125"/>
          </a:xfrm>
          <a:prstGeom prst="rect">
            <a:avLst/>
          </a:prstGeom>
        </p:spPr>
      </p:pic>
      <p:pic>
        <p:nvPicPr>
          <p:cNvPr id="27" name="Graphic 26" descr="Aspiration with solid fill">
            <a:extLst>
              <a:ext uri="{FF2B5EF4-FFF2-40B4-BE49-F238E27FC236}">
                <a16:creationId xmlns:a16="http://schemas.microsoft.com/office/drawing/2014/main" id="{B3A58430-97E7-6E08-7988-97076955C7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1873" y="5462681"/>
            <a:ext cx="452551" cy="4525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11207C5-629C-1B1D-2DF3-D7E39A2775E2}"/>
              </a:ext>
            </a:extLst>
          </p:cNvPr>
          <p:cNvSpPr txBox="1"/>
          <p:nvPr/>
        </p:nvSpPr>
        <p:spPr>
          <a:xfrm>
            <a:off x="6300682" y="132348"/>
            <a:ext cx="3800028" cy="101566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Show sequencing; lets be aggressive on what they should do short term because that could be our next phase</a:t>
            </a:r>
          </a:p>
          <a:p>
            <a:r>
              <a:rPr lang="en-US" sz="1000"/>
              <a:t>We need to have a rationale on why we are sequencing that way (value, dependency, easy to implement, </a:t>
            </a:r>
            <a:r>
              <a:rPr lang="en-US" sz="1000" err="1"/>
              <a:t>etc</a:t>
            </a:r>
            <a:r>
              <a:rPr lang="en-US" sz="1000"/>
              <a:t>…)</a:t>
            </a:r>
          </a:p>
          <a:p>
            <a:endParaRPr lang="en-US" sz="1000"/>
          </a:p>
          <a:p>
            <a:r>
              <a:rPr lang="en-US" sz="1000"/>
              <a:t>Make sure that what we have on previous page is reflected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6D2055-EC89-4622-4D28-7940E401CC46}"/>
              </a:ext>
            </a:extLst>
          </p:cNvPr>
          <p:cNvSpPr/>
          <p:nvPr/>
        </p:nvSpPr>
        <p:spPr>
          <a:xfrm>
            <a:off x="2136575" y="1585463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Set up model experimentation and tracking process with Visualization </a:t>
            </a:r>
            <a:endParaRPr lang="en-IN" sz="8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5224E8-16F3-73D1-C1B8-3E5CB7B389FA}"/>
              </a:ext>
            </a:extLst>
          </p:cNvPr>
          <p:cNvCxnSpPr>
            <a:cxnSpLocks/>
          </p:cNvCxnSpPr>
          <p:nvPr/>
        </p:nvCxnSpPr>
        <p:spPr>
          <a:xfrm>
            <a:off x="5775284" y="1203159"/>
            <a:ext cx="0" cy="57636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B4FA7A-6A3D-3317-BD45-75F14CC3CBC1}"/>
              </a:ext>
            </a:extLst>
          </p:cNvPr>
          <p:cNvCxnSpPr>
            <a:cxnSpLocks/>
          </p:cNvCxnSpPr>
          <p:nvPr/>
        </p:nvCxnSpPr>
        <p:spPr>
          <a:xfrm>
            <a:off x="9084539" y="1241988"/>
            <a:ext cx="0" cy="572486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E09C9C3-559D-B5CE-0DFE-1018BF9855FE}"/>
              </a:ext>
            </a:extLst>
          </p:cNvPr>
          <p:cNvSpPr/>
          <p:nvPr/>
        </p:nvSpPr>
        <p:spPr>
          <a:xfrm>
            <a:off x="3791202" y="1585463"/>
            <a:ext cx="1933942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Standardized project checklist/intake that clearly identifies data requirements, upstream/downstream integrations, and defined business KPIs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054029-4BA0-58F6-4AE2-5E94992C3155}"/>
              </a:ext>
            </a:extLst>
          </p:cNvPr>
          <p:cNvSpPr/>
          <p:nvPr/>
        </p:nvSpPr>
        <p:spPr>
          <a:xfrm>
            <a:off x="2136575" y="2046427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Set up model registry for models </a:t>
            </a:r>
            <a:endParaRPr lang="en-IN" sz="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4DD503-CC9D-2C2F-3568-2F2FD7985D8C}"/>
              </a:ext>
            </a:extLst>
          </p:cNvPr>
          <p:cNvSpPr/>
          <p:nvPr/>
        </p:nvSpPr>
        <p:spPr>
          <a:xfrm>
            <a:off x="5866356" y="1585462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Model Training accelerators for faster training</a:t>
            </a:r>
            <a:endParaRPr lang="en-IN" sz="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ECC98C-C3B3-DF04-2C41-987E61AFC60B}"/>
              </a:ext>
            </a:extLst>
          </p:cNvPr>
          <p:cNvSpPr/>
          <p:nvPr/>
        </p:nvSpPr>
        <p:spPr>
          <a:xfrm>
            <a:off x="8261151" y="1585462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800" b="0"/>
              <a:t>Store and manage features using a centralized Feature Store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DEAEAB-DABD-A52E-2692-3BD984437678}"/>
              </a:ext>
            </a:extLst>
          </p:cNvPr>
          <p:cNvSpPr/>
          <p:nvPr/>
        </p:nvSpPr>
        <p:spPr>
          <a:xfrm>
            <a:off x="10472834" y="1609642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800" b="0"/>
              <a:t>Data governance over the data quality and anomaly detection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B2B8E7-1E22-1027-4854-15C8C55E2806}"/>
              </a:ext>
            </a:extLst>
          </p:cNvPr>
          <p:cNvSpPr/>
          <p:nvPr/>
        </p:nvSpPr>
        <p:spPr>
          <a:xfrm>
            <a:off x="5869330" y="2046427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Other capabilities, like BQML, </a:t>
            </a:r>
            <a:r>
              <a:rPr lang="en-US" sz="800" err="1"/>
              <a:t>AutoML</a:t>
            </a:r>
            <a:r>
              <a:rPr lang="en-US" sz="800"/>
              <a:t> in the current framework</a:t>
            </a:r>
            <a:endParaRPr lang="en-IN" sz="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A52837-C414-3A38-9D65-77C25FF3F1AC}"/>
              </a:ext>
            </a:extLst>
          </p:cNvPr>
          <p:cNvSpPr/>
          <p:nvPr/>
        </p:nvSpPr>
        <p:spPr>
          <a:xfrm>
            <a:off x="3791202" y="2057313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Project </a:t>
            </a:r>
            <a:r>
              <a:rPr lang="en-US" sz="800" err="1"/>
              <a:t>assetized</a:t>
            </a:r>
            <a:r>
              <a:rPr lang="en-US" sz="800"/>
              <a:t> and reusability of components</a:t>
            </a:r>
            <a:endParaRPr lang="en-IN" sz="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1F82CF-A54F-138E-3251-21DC4A16C085}"/>
              </a:ext>
            </a:extLst>
          </p:cNvPr>
          <p:cNvSpPr/>
          <p:nvPr/>
        </p:nvSpPr>
        <p:spPr>
          <a:xfrm>
            <a:off x="2136575" y="2518277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Standard framework to address all AI use-cases</a:t>
            </a:r>
            <a:endParaRPr lang="en-IN" sz="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932E50-262D-A308-3A51-4396660AAC2B}"/>
              </a:ext>
            </a:extLst>
          </p:cNvPr>
          <p:cNvSpPr/>
          <p:nvPr/>
        </p:nvSpPr>
        <p:spPr>
          <a:xfrm>
            <a:off x="5866356" y="2524757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Start with heavy use of </a:t>
            </a:r>
            <a:r>
              <a:rPr lang="en-US" sz="800" err="1"/>
              <a:t>IaC</a:t>
            </a:r>
            <a:r>
              <a:rPr lang="en-US" sz="800"/>
              <a:t> for </a:t>
            </a:r>
            <a:r>
              <a:rPr lang="en-US" sz="800" err="1"/>
              <a:t>infraOps</a:t>
            </a:r>
            <a:r>
              <a:rPr lang="en-US" sz="800"/>
              <a:t> and provisioning</a:t>
            </a:r>
            <a:endParaRPr lang="en-IN" sz="8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90AC55-12F5-2910-CE0D-2599201C0758}"/>
              </a:ext>
            </a:extLst>
          </p:cNvPr>
          <p:cNvSpPr/>
          <p:nvPr/>
        </p:nvSpPr>
        <p:spPr>
          <a:xfrm>
            <a:off x="2136575" y="2979241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CI/CD Enhancements</a:t>
            </a:r>
            <a:endParaRPr lang="en-IN" sz="8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DFF24D-9165-609C-280B-F6EBB4AEB7F8}"/>
              </a:ext>
            </a:extLst>
          </p:cNvPr>
          <p:cNvSpPr/>
          <p:nvPr/>
        </p:nvSpPr>
        <p:spPr>
          <a:xfrm>
            <a:off x="3791202" y="2999561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Access roles and definitions</a:t>
            </a:r>
            <a:endParaRPr lang="en-IN" sz="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3DB79F-3C80-C2F3-78F7-19DD3116A13F}"/>
              </a:ext>
            </a:extLst>
          </p:cNvPr>
          <p:cNvSpPr/>
          <p:nvPr/>
        </p:nvSpPr>
        <p:spPr>
          <a:xfrm>
            <a:off x="9203208" y="2522992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Implementation of tool-based model observability and Responsible AI </a:t>
            </a:r>
            <a:endParaRPr lang="en-IN" sz="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12CE56-1BBF-A724-46A3-1576C76C1919}"/>
              </a:ext>
            </a:extLst>
          </p:cNvPr>
          <p:cNvSpPr/>
          <p:nvPr/>
        </p:nvSpPr>
        <p:spPr>
          <a:xfrm>
            <a:off x="7531808" y="2966986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Standardized logging and log-based monitoring</a:t>
            </a:r>
            <a:endParaRPr lang="en-IN" sz="8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E3366E-B26D-C335-A731-B8C0B5B74EE1}"/>
              </a:ext>
            </a:extLst>
          </p:cNvPr>
          <p:cNvSpPr/>
          <p:nvPr/>
        </p:nvSpPr>
        <p:spPr>
          <a:xfrm>
            <a:off x="7518071" y="2516908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Enhance model deployment capability</a:t>
            </a:r>
            <a:endParaRPr lang="en-IN" sz="8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3B8EB9-6B98-6DD3-35DA-0433D1A908E0}"/>
              </a:ext>
            </a:extLst>
          </p:cNvPr>
          <p:cNvSpPr/>
          <p:nvPr/>
        </p:nvSpPr>
        <p:spPr>
          <a:xfrm>
            <a:off x="7531808" y="2042663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800"/>
              <a:t>Capability of data tracking/versioning </a:t>
            </a:r>
            <a:endParaRPr lang="en-US" sz="800" b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6C57A1-B922-B864-E125-BB4B31899AC9}"/>
              </a:ext>
            </a:extLst>
          </p:cNvPr>
          <p:cNvSpPr/>
          <p:nvPr/>
        </p:nvSpPr>
        <p:spPr>
          <a:xfrm>
            <a:off x="3797799" y="2529163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Enable Automated train/re-train of models from pipeline</a:t>
            </a:r>
            <a:endParaRPr lang="en-IN" sz="8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4678CD-CF96-7037-13EF-D5CB2635106C}"/>
              </a:ext>
            </a:extLst>
          </p:cNvPr>
          <p:cNvSpPr/>
          <p:nvPr/>
        </p:nvSpPr>
        <p:spPr>
          <a:xfrm>
            <a:off x="2136575" y="3473682"/>
            <a:ext cx="1458686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Set up Vertex based model &amp; data drift detection process. Enhance Monitoring library with custom algorithms</a:t>
            </a:r>
            <a:endParaRPr lang="en-IN" sz="8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45A75A-2FB8-FB96-C1AF-4B30602D1BDE}"/>
              </a:ext>
            </a:extLst>
          </p:cNvPr>
          <p:cNvSpPr/>
          <p:nvPr/>
        </p:nvSpPr>
        <p:spPr>
          <a:xfrm>
            <a:off x="3797798" y="3473682"/>
            <a:ext cx="1645057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Other monitoring &amp; alert mechanism for model availability by tracking health metrics ( error rate, latency, throughput </a:t>
            </a:r>
            <a:r>
              <a:rPr lang="en-US" sz="800" err="1"/>
              <a:t>etc</a:t>
            </a:r>
            <a:r>
              <a:rPr lang="en-US" sz="800"/>
              <a:t>)</a:t>
            </a:r>
            <a:endParaRPr lang="en-IN" sz="8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1619C5-0388-0B23-23D1-DFA2821C336A}"/>
              </a:ext>
            </a:extLst>
          </p:cNvPr>
          <p:cNvSpPr/>
          <p:nvPr/>
        </p:nvSpPr>
        <p:spPr>
          <a:xfrm>
            <a:off x="5872953" y="3473682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Build monitoring templates using </a:t>
            </a:r>
            <a:r>
              <a:rPr lang="en-US" sz="800" err="1"/>
              <a:t>IaC</a:t>
            </a:r>
            <a:r>
              <a:rPr lang="en-US" sz="800"/>
              <a:t> and use them while spinning up projects. </a:t>
            </a:r>
            <a:endParaRPr lang="en-IN" sz="8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77D68C-3AB0-EE13-8825-ED20296FCE28}"/>
              </a:ext>
            </a:extLst>
          </p:cNvPr>
          <p:cNvSpPr/>
          <p:nvPr/>
        </p:nvSpPr>
        <p:spPr>
          <a:xfrm>
            <a:off x="9203208" y="3448368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Tool based bias, fairness, </a:t>
            </a:r>
            <a:r>
              <a:rPr lang="en-US" sz="800" err="1"/>
              <a:t>explainability</a:t>
            </a:r>
            <a:r>
              <a:rPr lang="en-US" sz="800"/>
              <a:t> capability.</a:t>
            </a:r>
            <a:endParaRPr lang="en-IN" sz="8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FAE1FEE-4B49-3033-E058-6E0B8DB0C55E}"/>
              </a:ext>
            </a:extLst>
          </p:cNvPr>
          <p:cNvSpPr/>
          <p:nvPr/>
        </p:nvSpPr>
        <p:spPr>
          <a:xfrm>
            <a:off x="7518071" y="3473682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For other services, set up logging and monitoring with visualization </a:t>
            </a:r>
            <a:endParaRPr lang="en-IN" sz="8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37CF8D-F311-AF0B-BE41-30B50DD900A2}"/>
              </a:ext>
            </a:extLst>
          </p:cNvPr>
          <p:cNvSpPr/>
          <p:nvPr/>
        </p:nvSpPr>
        <p:spPr>
          <a:xfrm>
            <a:off x="2136575" y="4105929"/>
            <a:ext cx="1458686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Establish code development review process checklist and shared </a:t>
            </a:r>
            <a:endParaRPr lang="en-IN" sz="8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0F6E01-509E-3651-CC63-49FC4C60904F}"/>
              </a:ext>
            </a:extLst>
          </p:cNvPr>
          <p:cNvSpPr/>
          <p:nvPr/>
        </p:nvSpPr>
        <p:spPr>
          <a:xfrm>
            <a:off x="3797799" y="4123075"/>
            <a:ext cx="1458686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Establish branching strategy &amp; release management </a:t>
            </a:r>
            <a:endParaRPr lang="en-IN" sz="8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27912D-DB15-35D8-5F71-4EA9DCF62AEC}"/>
              </a:ext>
            </a:extLst>
          </p:cNvPr>
          <p:cNvSpPr/>
          <p:nvPr/>
        </p:nvSpPr>
        <p:spPr>
          <a:xfrm>
            <a:off x="5883067" y="4123075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Create a standardized production-readiness checklist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BE67BDA-1A81-DB2C-A4F7-33741EFD58BE}"/>
              </a:ext>
            </a:extLst>
          </p:cNvPr>
          <p:cNvSpPr/>
          <p:nvPr/>
        </p:nvSpPr>
        <p:spPr>
          <a:xfrm>
            <a:off x="7534782" y="4123075"/>
            <a:ext cx="1458686" cy="433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Work on standard documentation approach across project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BA2B586-4B63-31D2-C8BA-9D11345012C3}"/>
              </a:ext>
            </a:extLst>
          </p:cNvPr>
          <p:cNvSpPr/>
          <p:nvPr/>
        </p:nvSpPr>
        <p:spPr>
          <a:xfrm>
            <a:off x="2135104" y="5278797"/>
            <a:ext cx="1458686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Set up external Data source integration framework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84BAE4-298A-AFF3-DB6E-4DE44736C708}"/>
              </a:ext>
            </a:extLst>
          </p:cNvPr>
          <p:cNvSpPr/>
          <p:nvPr/>
        </p:nvSpPr>
        <p:spPr>
          <a:xfrm>
            <a:off x="5917335" y="5278797"/>
            <a:ext cx="1458686" cy="85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Move towards fully-reproducible environments via </a:t>
            </a:r>
            <a:r>
              <a:rPr lang="en-US" sz="800" err="1"/>
              <a:t>IaC</a:t>
            </a:r>
            <a:r>
              <a:rPr lang="en-US" sz="800"/>
              <a:t> that require little to no manual steps to setup/teardown (“Project Factory” module)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442CCAF-1CA6-5253-15B0-7AAD095AC08F}"/>
              </a:ext>
            </a:extLst>
          </p:cNvPr>
          <p:cNvSpPr/>
          <p:nvPr/>
        </p:nvSpPr>
        <p:spPr>
          <a:xfrm>
            <a:off x="3797799" y="5290507"/>
            <a:ext cx="1458686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Standardize logging and monitoring of data transforms. Alert for data quality issues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E850B2-F98C-8E88-100F-CCDE9B519D28}"/>
              </a:ext>
            </a:extLst>
          </p:cNvPr>
          <p:cNvSpPr/>
          <p:nvPr/>
        </p:nvSpPr>
        <p:spPr>
          <a:xfrm>
            <a:off x="2127959" y="6265401"/>
            <a:ext cx="1458686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Set up documentation  process for product release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46328F6-01B2-F0D5-AB05-CE20EDFBA135}"/>
              </a:ext>
            </a:extLst>
          </p:cNvPr>
          <p:cNvSpPr/>
          <p:nvPr/>
        </p:nvSpPr>
        <p:spPr>
          <a:xfrm>
            <a:off x="4858001" y="6136812"/>
            <a:ext cx="2348342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Collaborate and build Cultural Adoption of the incorporated features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3171DE2-2B1E-311C-1BB0-A6206359299B}"/>
              </a:ext>
            </a:extLst>
          </p:cNvPr>
          <p:cNvSpPr/>
          <p:nvPr/>
        </p:nvSpPr>
        <p:spPr>
          <a:xfrm>
            <a:off x="7910368" y="6267441"/>
            <a:ext cx="2348342" cy="57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/>
              <a:t>Formalize roles on project and incorporate into project documentation with relevant points of contact for business, engineering, data science, etc.</a:t>
            </a:r>
          </a:p>
        </p:txBody>
      </p:sp>
    </p:spTree>
    <p:extLst>
      <p:ext uri="{BB962C8B-B14F-4D97-AF65-F5344CB8AC3E}">
        <p14:creationId xmlns:p14="http://schemas.microsoft.com/office/powerpoint/2010/main" val="150571333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Experimentation &amp; Tracking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685925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>
                <a:solidFill>
                  <a:prstClr val="black"/>
                </a:solidFill>
              </a:rPr>
              <a:t>Use of Vertex AI Experiment (GCP) and set up baseline experimentation</a:t>
            </a: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400"/>
              <a:t>Set up model experimentation and tracking process with Visualization 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endParaRPr lang="en-GB" sz="14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880011"/>
            <a:ext cx="11329697" cy="689695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/>
              <a:t>Process definition and capable service (Vertex AI Experimentation) </a:t>
            </a:r>
          </a:p>
          <a:p>
            <a:pPr marL="177800"/>
            <a:r>
              <a:rPr lang="en-GB" sz="1400"/>
              <a:t>available 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400"/>
              <a:t>It sets up process of iteratively testing and evaluating different machine learning models, hyperparameters, and data configurations to find the best performing model for a specific task or problem.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400"/>
              <a:t>This simplifies the process of experimenting with different models, hyperparameters, and data configurations, enabling you to find the most effective model for your machine learning tasks.</a:t>
            </a:r>
            <a:endParaRPr lang="en-GB" sz="14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02980" y="4114801"/>
            <a:ext cx="5577840" cy="1685925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/>
              <a:t>Services like Vertex AI Experimentation set up and team is able to configure it in the pipeline. 	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 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177152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Registry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685925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>
                <a:solidFill>
                  <a:prstClr val="black"/>
                </a:solidFill>
              </a:rPr>
              <a:t>Use of Vertex AI Experiment (GCP) and set up baseline experimentation</a:t>
            </a: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400"/>
              <a:t>Set up Model Registry to manage and organize machine learning models in a centralized and scalable manner</a:t>
            </a:r>
            <a:endParaRPr lang="en-GB" sz="14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880011"/>
            <a:ext cx="11329697" cy="689695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/>
              <a:t>Process definition and capable service (Vertex AI Experimentation) </a:t>
            </a:r>
          </a:p>
          <a:p>
            <a:pPr marL="177800"/>
            <a:r>
              <a:rPr lang="en-GB" sz="1400"/>
              <a:t>available 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400"/>
              <a:t>It sets up process of iteratively testing and evaluating different machine learning models, hyperparameters, and data configurations to find the best performing model for a specific task or problem.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400"/>
              <a:t>This simplifies the process of experimenting with different models, hyperparameters, and data configurations, enabling you to find the most effective model for your machine learning tasks.</a:t>
            </a:r>
            <a:endParaRPr lang="en-GB" sz="14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02980" y="4114801"/>
            <a:ext cx="5577840" cy="1685925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/>
              <a:t>Services like Vertex AI Experimentation set up and team is able to configure it in the pipeline. 	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 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237800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Standard Project Checklist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394296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</a:rPr>
              <a:t>Develop</a:t>
            </a: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 a standardized project checklist/intake that includes sections for data requirements, integrations and business KPIs. </a:t>
            </a:r>
            <a:endParaRPr lang="en-GB" sz="14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Share it with the team and incorporate it into the project intake process.</a:t>
            </a:r>
            <a:endParaRPr lang="en-GB" sz="1400">
              <a:cs typeface="Segoe UI Ligh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Develop a standardized project checklist</a:t>
            </a:r>
            <a:endParaRPr lang="en-GB" sz="14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569567"/>
            <a:ext cx="11339104" cy="88725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Resistance to change, 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Lack of buy-in from stakeholders, </a:t>
            </a: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Difficulty in developing a comprehensive and effective checklist.</a:t>
            </a:r>
            <a:endParaRPr lang="en-GB">
              <a:cs typeface="Segoe UI Ligh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</a:rPr>
              <a:t>A</a:t>
            </a: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 standardized project checklist/intake can help ensure that data requirements, integrations and business KPIs are clearly identified and communicated to stakeholders.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3573" y="4114801"/>
            <a:ext cx="5587247" cy="1394296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Standardized project checklist/intake is developed and adopted by the team.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Business Stakeholders.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endParaRPr lang="en-GB" sz="110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2392437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Reusable Assets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394296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</a:rPr>
              <a:t>Identify reusable</a:t>
            </a: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 project assets, 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Develop a process for sharing and reusing assets across projects.</a:t>
            </a:r>
            <a:endParaRPr lang="en-GB" sz="110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Ensure that Project assets are reusable.</a:t>
            </a:r>
            <a:endParaRPr lang="en-GB" sz="14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569567"/>
            <a:ext cx="11339104" cy="88725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Resistance to change, 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Lack of buy-in from stakeholders, </a:t>
            </a: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Difficulty in identifying and sharing reusable assets.</a:t>
            </a:r>
            <a:endParaRPr lang="en-GB">
              <a:ea typeface="+mn-lt"/>
              <a:cs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Reusable project assets can help streamline the development process and reduce duplication of effort.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3573" y="4114801"/>
            <a:ext cx="5587247" cy="1394296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Project assets are identified and made reusable.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Business Stakeholders.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endParaRPr lang="en-GB" sz="110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3569747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Model Framework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2251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Research and evaluate existing frameworks, (Vertex AI)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develop a custom framework or adapt an existing one to meet the needs of the organization.</a:t>
            </a: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400"/>
              <a:t>Set up / Develop a standard framework to address all AI use-cases</a:t>
            </a:r>
            <a:endParaRPr lang="en-GB" sz="14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3572" y="5597789"/>
            <a:ext cx="11339104" cy="990732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Resistance to change, </a:t>
            </a:r>
            <a:endParaRPr lang="en-GB" sz="14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Lack of buy-in from stakeholders, </a:t>
            </a:r>
            <a:endParaRPr lang="en-GB" sz="14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Difficulty in developing a framework that addresses all use-cases.</a:t>
            </a:r>
            <a:endParaRPr lang="en-GB" sz="1400">
              <a:cs typeface="Segoe UI Ligh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ea typeface="+mn-lt"/>
                <a:cs typeface="+mn-lt"/>
              </a:rPr>
              <a:t>A standard framework can help streamline the process of developing and deploying AI solutions for various use-cases.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cs typeface="Segoe UI Light"/>
              </a:rPr>
              <a:t>Easy to replicate across projects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cs typeface="Segoe UI Light"/>
              </a:rPr>
              <a:t>Easier to develop, test, train models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cs typeface="Segoe UI Light"/>
              </a:rPr>
              <a:t>Faster turnaround time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3573" y="4114801"/>
            <a:ext cx="5587247" cy="142251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/>
              <a:t> 	</a:t>
            </a: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A standard framework is developed and adopted by the team</a:t>
            </a: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.</a:t>
            </a:r>
            <a:endParaRPr lang="en-GB" sz="1400">
              <a:cs typeface="Segoe UI Ligh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ea typeface="+mn-lt"/>
                <a:cs typeface="+mn-lt"/>
              </a:rPr>
              <a:t>Business Stakeholders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173066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Automated Training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2251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Develop and integrate automated training and re-training processes into the pipeline.</a:t>
            </a:r>
            <a:endParaRPr lang="en-GB" sz="1200">
              <a:cs typeface="Segoe UI Ligh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Enable automated training and re-training of models from pipeline.</a:t>
            </a:r>
            <a:endParaRPr lang="en-GB" sz="14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3572" y="5597789"/>
            <a:ext cx="11339104" cy="990732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Difficulty in developing effective automated training and re-training processes,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Lack of buy-in from stakeholders,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Difficulty in integrating the processes into the pipeline.</a:t>
            </a:r>
            <a:endParaRPr lang="en-GB" sz="110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Automated training and re-training of models can help ensure that models remain accurate and effective over time.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3573" y="4114801"/>
            <a:ext cx="5587247" cy="142251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/>
              <a:t> 	</a:t>
            </a: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Automated training and re-training of models is enabled in the pipeline..</a:t>
            </a:r>
            <a:endParaRPr lang="en-GB" sz="1400">
              <a:cs typeface="Segoe UI Ligh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ea typeface="+mn-lt"/>
                <a:cs typeface="+mn-lt"/>
              </a:rPr>
              <a:t>Business Stakeholders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343086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Access, Roles &amp; Permissions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2251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Identify stakeholders and their access needs, 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Develop a set of access roles and permissions,</a:t>
            </a:r>
            <a:endParaRPr lang="en-GB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 Implement the roles and permissions in the system..</a:t>
            </a:r>
            <a:endParaRPr lang="en-GB" sz="1200">
              <a:cs typeface="Segoe UI Ligh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Define access roles and permissions for machine learning models.</a:t>
            </a:r>
            <a:endParaRPr lang="en-GB" sz="1400">
              <a:ea typeface="+mn-lt"/>
              <a:cs typeface="+mn-l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3572" y="5597789"/>
            <a:ext cx="11339104" cy="990732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Difficulty in identifying stakeholders and their access needs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Lack of buy-in from stakeholders,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Difficulty in implementing the roles and permissions in the system.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Clearly defined access roles and permissions can help ensure that only authorized users have access to machine learning models and their data.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3573" y="4114801"/>
            <a:ext cx="5587247" cy="142251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>
                <a:solidFill>
                  <a:srgbClr val="000000"/>
                </a:solidFill>
                <a:cs typeface="Segoe UI Light"/>
              </a:rPr>
              <a:t> 	</a:t>
            </a: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Access roles and permissions are defined and implemented.</a:t>
            </a:r>
            <a:endParaRPr lang="en-GB" sz="110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ea typeface="+mn-lt"/>
                <a:cs typeface="+mn-lt"/>
              </a:rPr>
              <a:t>Business Stakeholders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479019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CI / CD Approach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Evaluate existing CI/CD processes, identify areas for improvement, implement enhancements</a:t>
            </a:r>
            <a:endParaRPr lang="en-GB" sz="1200"/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400"/>
              <a:t>Set up / </a:t>
            </a:r>
            <a:r>
              <a:rPr lang="en-US" sz="1200">
                <a:solidFill>
                  <a:srgbClr val="111111"/>
                </a:solidFill>
                <a:ea typeface="+mn-lt"/>
                <a:cs typeface="+mn-lt"/>
              </a:rPr>
              <a:t>Enhance CI/CD processes for machine learning models.</a:t>
            </a:r>
            <a:endParaRPr lang="en-GB" sz="1200">
              <a:cs typeface="Segoe UI Ligh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653470"/>
            <a:ext cx="11319400" cy="84415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Resistance to change, </a:t>
            </a:r>
            <a:endParaRPr lang="en-GB" sz="14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Lack of buy-in from stakeholders, </a:t>
            </a:r>
            <a:endParaRPr lang="en-GB" sz="14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Difficulty in integrating CI/CD processes with existing workflows.</a:t>
            </a:r>
            <a:endParaRPr lang="en-GB" sz="1400">
              <a:ea typeface="+mn-lt"/>
              <a:cs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ea typeface="+mn-lt"/>
                <a:cs typeface="+mn-lt"/>
              </a:rPr>
              <a:t> </a:t>
            </a: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CI/CD processes can help streamline the development, testing, and deployment of machine learning models.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cs typeface="Segoe UI Light"/>
              </a:rPr>
              <a:t>Significant reduction in Human errors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cs typeface="Segoe UI Light"/>
              </a:rPr>
              <a:t>Faster turnaround time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683" y="4114801"/>
            <a:ext cx="5588137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400"/>
              <a:t> 	</a:t>
            </a: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CI/CD processes for machine learning models are enhanced and adopted by the team</a:t>
            </a:r>
            <a:endParaRPr lang="en-GB" sz="1100">
              <a:ea typeface="+mn-lt"/>
              <a:cs typeface="+mn-l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ea typeface="+mn-lt"/>
                <a:cs typeface="+mn-lt"/>
              </a:rPr>
              <a:t>Business Stakeholders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1625149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Monitoring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Set up Vertex based model &amp; data drift detection process, develop and integrate custom algorithms into the monitoring library.</a:t>
            </a:r>
            <a:endParaRPr lang="en-GB" sz="1200"/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</a:rPr>
              <a:t>Set</a:t>
            </a:r>
            <a:r>
              <a:rPr lang="en-US" sz="1200">
                <a:solidFill>
                  <a:srgbClr val="111111"/>
                </a:solidFill>
                <a:ea typeface="+mn-lt"/>
                <a:cs typeface="+mn-lt"/>
              </a:rPr>
              <a:t> up Vertex based model &amp; data drift detection process.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ea typeface="+mn-lt"/>
                <a:cs typeface="+mn-lt"/>
              </a:rPr>
              <a:t>Enhance Monitoring library with custom algorithms.</a:t>
            </a:r>
            <a:endParaRPr lang="en-US" sz="120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653470"/>
            <a:ext cx="11319400" cy="84415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Resistance to change, Lack of buy-in from stakeholders, 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Difficulty in setting up Vertex based model &amp; data drift detection process, 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Difficulty in developing effective custom algorithms,</a:t>
            </a:r>
            <a:endParaRPr lang="en-GB" sz="1200">
              <a:ea typeface="+mn-lt"/>
              <a:cs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ea typeface="+mn-lt"/>
                <a:cs typeface="+mn-lt"/>
              </a:rPr>
              <a:t>Monitoring model and data drift can help ensure that machine learning models remain accurate and effective over time.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ea typeface="+mn-lt"/>
                <a:cs typeface="+mn-lt"/>
              </a:rPr>
              <a:t>Custom algorithms can help tailor the monitoring process to the specific needs of the organization</a:t>
            </a:r>
            <a:endParaRPr lang="en-US" sz="120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683" y="4114801"/>
            <a:ext cx="5588137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Vertex based model &amp; data drift detection process is set up and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The monitoring library is enhanced with custom algorithms.</a:t>
            </a:r>
            <a:endParaRPr lang="en-GB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ea typeface="+mn-lt"/>
                <a:cs typeface="+mn-lt"/>
              </a:rPr>
              <a:t>Business Stakeholders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2665199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Software Engineering Checklist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Develop a code development review process checklist, 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Share it with the team and incorporate it into the development workflow</a:t>
            </a: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.</a:t>
            </a:r>
            <a:endParaRPr lang="en-GB" sz="1200">
              <a:ea typeface="+mn-lt"/>
              <a:cs typeface="+mn-l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111111"/>
                </a:solidFill>
                <a:ea typeface="+mn-lt"/>
                <a:cs typeface="+mn-lt"/>
              </a:rPr>
              <a:t>Establish code development review process checklist and shared.</a:t>
            </a:r>
            <a:endParaRPr lang="en-US" sz="120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653470"/>
            <a:ext cx="11319400" cy="84415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Resistance to change,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 Lack of buy-in from stakeholders, 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Difficulty </a:t>
            </a: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in developing a comprehensive and effective checklist.</a:t>
            </a:r>
            <a:endParaRPr lang="en-GB" sz="1200">
              <a:ea typeface="+mn-lt"/>
              <a:cs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A code development review process can help ensure that code is of high quality and adheres to best practices. </a:t>
            </a:r>
            <a:endParaRPr lang="en-US" sz="1200">
              <a:solidFill>
                <a:srgbClr val="111111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A shared checklist can help standardize the review process across the team.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cs typeface="Segoe UI Light"/>
              </a:rPr>
              <a:t>Facilitates easier communications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cs typeface="Segoe UI Light"/>
              </a:rPr>
              <a:t>Expectations are clear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683" y="4114801"/>
            <a:ext cx="5588137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Code development review process checklist is established and shared with the team.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ea typeface="+mn-lt"/>
                <a:cs typeface="+mn-lt"/>
              </a:rPr>
              <a:t>Business Stakeholders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3600008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/>
              </a:rPr>
              <a:t>Branching Strategy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 dirty="0"/>
              <a:t>5</a:t>
            </a:r>
            <a:r>
              <a:rPr lang="en-GB" sz="1400" b="1" dirty="0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Develop a branching strategy and release management process, share it with the team and incorporate it into the development workflow.</a:t>
            </a:r>
            <a:endParaRPr lang="en-GB" sz="1200" dirty="0">
              <a:ea typeface="+mn-lt"/>
              <a:cs typeface="+mn-l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11111"/>
                </a:solidFill>
                <a:ea typeface="+mn-lt"/>
                <a:cs typeface="+mn-lt"/>
              </a:rPr>
              <a:t>Establish </a:t>
            </a:r>
            <a:r>
              <a:rPr lang="en-US" sz="1100" dirty="0">
                <a:solidFill>
                  <a:srgbClr val="111111"/>
                </a:solidFill>
                <a:ea typeface="+mn-lt"/>
                <a:cs typeface="+mn-lt"/>
              </a:rPr>
              <a:t>a branching strategy and release management process.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653470"/>
            <a:ext cx="11319400" cy="84415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 dirty="0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rgbClr val="111111"/>
                </a:solidFill>
                <a:ea typeface="+mn-lt"/>
                <a:cs typeface="+mn-lt"/>
              </a:rPr>
              <a:t>Resistance to change,</a:t>
            </a:r>
            <a:endParaRPr lang="en-GB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rgbClr val="111111"/>
                </a:solidFill>
                <a:ea typeface="+mn-lt"/>
                <a:cs typeface="+mn-lt"/>
              </a:rPr>
              <a:t> Lack of buy-in from stakeholders, </a:t>
            </a:r>
            <a:endParaRPr lang="en-GB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 err="1">
                <a:solidFill>
                  <a:srgbClr val="111111"/>
                </a:solidFill>
                <a:ea typeface="+mn-lt"/>
                <a:cs typeface="+mn-lt"/>
              </a:rPr>
              <a:t>Diffficulty</a:t>
            </a: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 in developing an effective branching strategy and release management process.</a:t>
            </a:r>
            <a:endParaRPr lang="en-GB" sz="1200" dirty="0">
              <a:ea typeface="+mn-lt"/>
              <a:cs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111"/>
                </a:solidFill>
                <a:ea typeface="+mn-lt"/>
                <a:cs typeface="+mn-lt"/>
              </a:rPr>
              <a:t>A branching strategy and release management process can help ensure that code changes are properly managed and that releases are well-coordinated.</a:t>
            </a:r>
            <a:endParaRPr lang="en-US" sz="1100" dirty="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683" y="4114801"/>
            <a:ext cx="5588137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Branching strategy and release management process are established and adopted by the team.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Software Engineers,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DevOps Engineers,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Product Managers.</a:t>
            </a:r>
            <a:endParaRPr lang="en-US" dirty="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1486283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/>
              </a:rPr>
              <a:t>Monitoring &amp; Alert Mechanism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 dirty="0"/>
              <a:t>5</a:t>
            </a:r>
            <a:r>
              <a:rPr lang="en-GB" sz="1400" b="1" dirty="0"/>
              <a:t>. High level approach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Identify key health metrics to track, develop monitoring and alert mechanisms for tracking these metrics,</a:t>
            </a:r>
            <a:endParaRPr lang="en-GB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 Implement the mechanisms in the system.</a:t>
            </a:r>
            <a:endParaRPr lang="en-GB" sz="1200" dirty="0">
              <a:ea typeface="+mn-lt"/>
              <a:cs typeface="+mn-l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111"/>
                </a:solidFill>
                <a:ea typeface="+mn-lt"/>
                <a:cs typeface="+mn-lt"/>
              </a:rPr>
              <a:t>Develop monitoring and alert mechanisms for model availability by tracking health metrics</a:t>
            </a:r>
            <a:r>
              <a:rPr lang="en-US" sz="1200" dirty="0">
                <a:solidFill>
                  <a:srgbClr val="111111"/>
                </a:solidFill>
                <a:ea typeface="+mn-lt"/>
                <a:cs typeface="+mn-lt"/>
              </a:rPr>
              <a:t>.</a:t>
            </a:r>
            <a:endParaRPr lang="en-US" sz="1200" dirty="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653470"/>
            <a:ext cx="11319400" cy="84415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 dirty="0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Difficulty in developing effective monitoring and alert mechanisms.</a:t>
            </a:r>
            <a:endParaRPr lang="en-GB" sz="1200" dirty="0">
              <a:solidFill>
                <a:srgbClr val="111111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rgbClr val="111111"/>
                </a:solidFill>
                <a:ea typeface="+mn-lt"/>
                <a:cs typeface="+mn-lt"/>
              </a:rPr>
              <a:t> Lack of buy-in from stakeholders, </a:t>
            </a:r>
            <a:endParaRPr lang="en-GB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Difficulty in identifying key health metrics to track, </a:t>
            </a:r>
            <a:endParaRPr lang="en-GB" sz="1200" dirty="0">
              <a:solidFill>
                <a:srgbClr val="111111"/>
              </a:solidFill>
              <a:ea typeface="+mn-lt"/>
              <a:cs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2. Perspective/context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111"/>
                </a:solidFill>
                <a:ea typeface="+mn-lt"/>
                <a:cs typeface="+mn-lt"/>
              </a:rPr>
              <a:t>Monitoring model availability and tracking health metrics such as error rate, latency and throughput can help ensure that models remain available and are  effective over time</a:t>
            </a:r>
            <a:endParaRPr lang="en-US" sz="1200" dirty="0">
              <a:solidFill>
                <a:srgbClr val="111111"/>
              </a:solidFill>
              <a:cs typeface="Segoe UI Ligh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683" y="4114801"/>
            <a:ext cx="5588137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4. Criteria for success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Monitoring and alert mechanisms for model availability are developed and implemented.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ea typeface="+mn-lt"/>
                <a:cs typeface="+mn-lt"/>
              </a:rPr>
              <a:t>Business Stakeholders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4113710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Architecture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Research and evaluate existing frameworks, develop a custom framework or adapt an existing one to meet the needs of the organization.</a:t>
            </a:r>
            <a:endParaRPr lang="en-GB" sz="1200">
              <a:ea typeface="+mn-lt"/>
              <a:cs typeface="+mn-l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Set up external Data source integration framework.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653470"/>
            <a:ext cx="11319400" cy="84415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Resistance to change,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 Lack of buy-in from stakeholders, 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Difficulty in integrating the framework with existing workflows.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An external data source integration framework can help streamline the process of integrating data from external sources into machine learning models.</a:t>
            </a:r>
            <a:endParaRPr lang="en-US" sz="1200">
              <a:solidFill>
                <a:srgbClr val="111111"/>
              </a:solidFill>
              <a:ea typeface="+mn-lt"/>
              <a:cs typeface="+mn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683" y="4114801"/>
            <a:ext cx="5588137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External data source integration framework is set up and adopted by the team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/>
              <a:t>Machine Learning Engineer (to set up)</a:t>
            </a:r>
            <a:endParaRPr lang="en-GB" sz="120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ea typeface="+mn-lt"/>
                <a:cs typeface="+mn-lt"/>
              </a:rPr>
              <a:t>Business Stakeholders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3325266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Logging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 dirty="0"/>
              <a:t>5</a:t>
            </a:r>
            <a:r>
              <a:rPr lang="en-GB" sz="1400" b="1" dirty="0"/>
              <a:t>. High level approach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Develop a standardized process for logging and monitoring data transforms, implement alerts for data quality issues.</a:t>
            </a:r>
            <a:endParaRPr lang="en-GB" sz="1200" dirty="0">
              <a:ea typeface="+mn-lt"/>
              <a:cs typeface="+mn-l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111"/>
                </a:solidFill>
                <a:ea typeface="+mn-lt"/>
                <a:cs typeface="+mn-lt"/>
              </a:rPr>
              <a:t>Standardize logging and monitoring of data transforms and alert for data quality issues.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653470"/>
            <a:ext cx="11319400" cy="84415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 dirty="0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rgbClr val="111111"/>
                </a:solidFill>
                <a:ea typeface="+mn-lt"/>
                <a:cs typeface="+mn-lt"/>
              </a:rPr>
              <a:t>Resistance to change,</a:t>
            </a:r>
            <a:endParaRPr lang="en-GB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rgbClr val="111111"/>
                </a:solidFill>
                <a:ea typeface="+mn-lt"/>
                <a:cs typeface="+mn-lt"/>
              </a:rPr>
              <a:t> Lack of buy-in from stakeholders, </a:t>
            </a:r>
            <a:endParaRPr lang="en-GB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rgbClr val="111111"/>
                </a:solidFill>
                <a:ea typeface="+mn-lt"/>
                <a:cs typeface="+mn-lt"/>
              </a:rPr>
              <a:t>Difficulty in </a:t>
            </a: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developing an effective process for logging and monitoring data transforms.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2. Perspective/context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111"/>
                </a:solidFill>
                <a:ea typeface="+mn-lt"/>
                <a:cs typeface="+mn-lt"/>
              </a:rPr>
              <a:t>Standardized logging and monitoring of data transforms can help ensure that data is </a:t>
            </a: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properly transformed and that any issues are quickly identified and addressed.</a:t>
            </a:r>
            <a:endParaRPr lang="en-US" sz="1200">
              <a:solidFill>
                <a:srgbClr val="111111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111"/>
                </a:solidFill>
                <a:ea typeface="+mn-lt"/>
                <a:cs typeface="+mn-lt"/>
              </a:rPr>
              <a:t> Alerts for data quality issues can help ensure that data remains accurate and reliable.</a:t>
            </a:r>
            <a:endParaRPr lang="en-US" sz="1200">
              <a:solidFill>
                <a:srgbClr val="111111"/>
              </a:solidFill>
              <a:ea typeface="+mn-lt"/>
              <a:cs typeface="+mn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683" y="4114801"/>
            <a:ext cx="5588137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 dirty="0"/>
              <a:t>4. Criteria for success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Logging and monitoring of data transforms are standardized and alerts for data quality issues are implemented.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 Data Engineers, </a:t>
            </a:r>
            <a:endParaRPr lang="en-GB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 dirty="0">
                <a:solidFill>
                  <a:srgbClr val="111111"/>
                </a:solidFill>
                <a:ea typeface="+mn-lt"/>
                <a:cs typeface="+mn-lt"/>
              </a:rPr>
              <a:t>Business Analysts.</a:t>
            </a:r>
            <a:endParaRPr lang="en-GB" sz="120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682825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CE3B2-9983-51DB-C667-8E0B7BD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"/>
              </a:rPr>
              <a:t>Ways of Working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54838" y="4114801"/>
            <a:ext cx="5577840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200" b="1"/>
              <a:t>5</a:t>
            </a:r>
            <a:r>
              <a:rPr lang="en-GB" sz="1400" b="1"/>
              <a:t>. High level approach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Document a clear process for product release, &amp; share it with the team 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Incorporate it into the release workflow.</a:t>
            </a:r>
            <a:endParaRPr lang="en-GB" sz="1200">
              <a:ea typeface="+mn-lt"/>
              <a:cs typeface="+mn-lt"/>
            </a:endParaRPr>
          </a:p>
        </p:txBody>
      </p:sp>
      <p:sp>
        <p:nvSpPr>
          <p:cNvPr id="7" name="Rectangle 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93405" y="1462572"/>
            <a:ext cx="11344939" cy="704731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1. Objectives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Document a  process for product release.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2979" y="5653470"/>
            <a:ext cx="11319400" cy="84415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r>
              <a:rPr lang="en-GB" sz="1400" b="1"/>
              <a:t>6. Project risks / barriers to impact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Resistance to change,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 Lack of buy-in from stakeholders, </a:t>
            </a:r>
            <a:endParaRPr lang="en-GB" sz="1200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>
                <a:solidFill>
                  <a:srgbClr val="111111"/>
                </a:solidFill>
                <a:ea typeface="+mn-lt"/>
                <a:cs typeface="+mn-lt"/>
              </a:rPr>
              <a:t>Difficulty in integrating the documented approach with existing workflows.</a:t>
            </a:r>
            <a:endParaRPr lang="en-GB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2980" y="2245013"/>
            <a:ext cx="5577840" cy="179358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2. Perspective/context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Following a  documented process can help ensure that product releases follow a well- planned -structure </a:t>
            </a:r>
            <a:endParaRPr lang="en-US" sz="1200">
              <a:solidFill>
                <a:srgbClr val="111111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Expectations are clear across all Stakeholders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US" sz="1100">
                <a:solidFill>
                  <a:srgbClr val="111111"/>
                </a:solidFill>
                <a:ea typeface="+mn-lt"/>
                <a:cs typeface="+mn-lt"/>
              </a:rPr>
              <a:t> Relevant information is communicated to stakeholders.</a:t>
            </a:r>
            <a:endParaRPr lang="en-US" sz="1200">
              <a:solidFill>
                <a:srgbClr val="111111"/>
              </a:solidFill>
              <a:ea typeface="+mn-lt"/>
              <a:cs typeface="+mn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683" y="4114801"/>
            <a:ext cx="5588137" cy="1407898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t"/>
          <a:lstStyle/>
          <a:p>
            <a:r>
              <a:rPr lang="en-GB" sz="1400" b="1"/>
              <a:t>4. Criteria for success</a:t>
            </a:r>
          </a:p>
          <a:p>
            <a:endParaRPr lang="en-GB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100">
                <a:solidFill>
                  <a:srgbClr val="111111"/>
                </a:solidFill>
                <a:ea typeface="+mn-lt"/>
                <a:cs typeface="+mn-lt"/>
              </a:rPr>
              <a:t>Documentation process for product release is set up and adopted by the team.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154837" y="2239452"/>
            <a:ext cx="5577840" cy="179914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numCol="1" anchor="t"/>
          <a:lstStyle/>
          <a:p>
            <a:r>
              <a:rPr lang="en-GB" sz="1400" b="1"/>
              <a:t>3. Stakeholders &amp; resourcing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54838" y="2456674"/>
            <a:ext cx="5577840" cy="1581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36000" tIns="36000" rIns="36000" bIns="36000" numCol="2" anchor="t"/>
          <a:lstStyle/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/>
              <a:t>Data Scientist </a:t>
            </a: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/>
              <a:t>Machine Learning Engineer (to set up WoW)</a:t>
            </a:r>
            <a:endParaRPr lang="en-GB" sz="1200" dirty="0">
              <a:cs typeface="Segoe UI Light"/>
            </a:endParaRPr>
          </a:p>
          <a:p>
            <a:pPr marL="273050" indent="-95250">
              <a:buFont typeface="Wingdings" panose="05000000000000000000" pitchFamily="2" charset="2"/>
              <a:buChar char="§"/>
            </a:pPr>
            <a:r>
              <a:rPr lang="en-GB" sz="1200" dirty="0">
                <a:ea typeface="+mn-lt"/>
                <a:cs typeface="+mn-lt"/>
              </a:rPr>
              <a:t>Business Stakeholders</a:t>
            </a:r>
            <a:endParaRPr lang="en-GB" sz="1200" dirty="0">
              <a:cs typeface="Segoe U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ED34-DB8D-3798-C9C4-E65C6533414E}"/>
              </a:ext>
            </a:extLst>
          </p:cNvPr>
          <p:cNvSpPr txBox="1"/>
          <p:nvPr/>
        </p:nvSpPr>
        <p:spPr>
          <a:xfrm>
            <a:off x="6731000" y="973146"/>
            <a:ext cx="557784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For all the key initiatives (especially the ones to be done in the short term, please populate this</a:t>
            </a:r>
          </a:p>
          <a:p>
            <a:r>
              <a:rPr lang="en-US" sz="1000"/>
              <a:t>And bring any context slides that we already have</a:t>
            </a:r>
          </a:p>
        </p:txBody>
      </p:sp>
    </p:spTree>
    <p:extLst>
      <p:ext uri="{BB962C8B-B14F-4D97-AF65-F5344CB8AC3E}">
        <p14:creationId xmlns:p14="http://schemas.microsoft.com/office/powerpoint/2010/main" val="1920660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928A-4472-FCD5-9F7F-B8EAE019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4C90CB-2C9E-D84B-E2A5-AF146E963E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2AB94-C79B-4FA9-8299-0FC7EEE988C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6F7F3-4C5D-6A36-C5EC-FB54D275D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91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35">
            <a:extLst>
              <a:ext uri="{FF2B5EF4-FFF2-40B4-BE49-F238E27FC236}">
                <a16:creationId xmlns:a16="http://schemas.microsoft.com/office/drawing/2014/main" id="{8AF8E330-37A1-D582-114D-E27FD8681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519761"/>
              </p:ext>
            </p:extLst>
          </p:nvPr>
        </p:nvGraphicFramePr>
        <p:xfrm>
          <a:off x="298383" y="2126169"/>
          <a:ext cx="11507536" cy="4056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9491">
                  <a:extLst>
                    <a:ext uri="{9D8B030D-6E8A-4147-A177-3AD203B41FA5}">
                      <a16:colId xmlns:a16="http://schemas.microsoft.com/office/drawing/2014/main" val="2101014550"/>
                    </a:ext>
                  </a:extLst>
                </a:gridCol>
                <a:gridCol w="10088045">
                  <a:extLst>
                    <a:ext uri="{9D8B030D-6E8A-4147-A177-3AD203B41FA5}">
                      <a16:colId xmlns:a16="http://schemas.microsoft.com/office/drawing/2014/main" val="3960089758"/>
                    </a:ext>
                  </a:extLst>
                </a:gridCol>
              </a:tblGrid>
              <a:tr h="1401891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DataOps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020010"/>
                  </a:ext>
                </a:extLst>
              </a:tr>
              <a:tr h="132738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MLOps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880179"/>
                  </a:ext>
                </a:extLst>
              </a:tr>
              <a:tr h="132738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AD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411275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6DADAAE2-0A7A-E66D-1F2C-458B6C153FAF}"/>
              </a:ext>
            </a:extLst>
          </p:cNvPr>
          <p:cNvGrpSpPr/>
          <p:nvPr/>
        </p:nvGrpSpPr>
        <p:grpSpPr>
          <a:xfrm>
            <a:off x="3274904" y="2411385"/>
            <a:ext cx="676656" cy="676656"/>
            <a:chOff x="4664059" y="2491760"/>
            <a:chExt cx="676656" cy="67665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633D707-183F-705C-3704-FE598A4D94AE}"/>
                </a:ext>
              </a:extLst>
            </p:cNvPr>
            <p:cNvSpPr/>
            <p:nvPr/>
          </p:nvSpPr>
          <p:spPr>
            <a:xfrm>
              <a:off x="4664059" y="2491760"/>
              <a:ext cx="676656" cy="676656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Sun" panose="02010600030101010101" pitchFamily="2" charset="-122"/>
                <a:ea typeface="+mn-ea"/>
                <a:cs typeface="+mn-cs"/>
              </a:endParaRPr>
            </a:p>
          </p:txBody>
        </p:sp>
        <p:grpSp>
          <p:nvGrpSpPr>
            <p:cNvPr id="24" name="data; sync; synch">
              <a:extLst>
                <a:ext uri="{FF2B5EF4-FFF2-40B4-BE49-F238E27FC236}">
                  <a16:creationId xmlns:a16="http://schemas.microsoft.com/office/drawing/2014/main" id="{79CF2853-E783-5D67-48DE-C4DC1C4BDE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07621" y="2580606"/>
              <a:ext cx="427990" cy="427987"/>
              <a:chOff x="2405" y="437"/>
              <a:chExt cx="427" cy="427"/>
            </a:xfrm>
            <a:solidFill>
              <a:srgbClr val="7900D7"/>
            </a:solidFill>
          </p:grpSpPr>
          <p:sp>
            <p:nvSpPr>
              <p:cNvPr id="27" name="Freeform 78">
                <a:extLst>
                  <a:ext uri="{FF2B5EF4-FFF2-40B4-BE49-F238E27FC236}">
                    <a16:creationId xmlns:a16="http://schemas.microsoft.com/office/drawing/2014/main" id="{768F4B04-8125-47AD-BCEC-69EC21BEC7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5" y="437"/>
                <a:ext cx="356" cy="160"/>
              </a:xfrm>
              <a:custGeom>
                <a:avLst/>
                <a:gdLst>
                  <a:gd name="T0" fmla="*/ 120 w 240"/>
                  <a:gd name="T1" fmla="*/ 108 h 108"/>
                  <a:gd name="T2" fmla="*/ 0 w 240"/>
                  <a:gd name="T3" fmla="*/ 54 h 108"/>
                  <a:gd name="T4" fmla="*/ 120 w 240"/>
                  <a:gd name="T5" fmla="*/ 0 h 108"/>
                  <a:gd name="T6" fmla="*/ 240 w 240"/>
                  <a:gd name="T7" fmla="*/ 54 h 108"/>
                  <a:gd name="T8" fmla="*/ 120 w 240"/>
                  <a:gd name="T9" fmla="*/ 108 h 108"/>
                  <a:gd name="T10" fmla="*/ 120 w 240"/>
                  <a:gd name="T11" fmla="*/ 12 h 108"/>
                  <a:gd name="T12" fmla="*/ 12 w 240"/>
                  <a:gd name="T13" fmla="*/ 54 h 108"/>
                  <a:gd name="T14" fmla="*/ 120 w 240"/>
                  <a:gd name="T15" fmla="*/ 96 h 108"/>
                  <a:gd name="T16" fmla="*/ 228 w 240"/>
                  <a:gd name="T17" fmla="*/ 54 h 108"/>
                  <a:gd name="T18" fmla="*/ 120 w 240"/>
                  <a:gd name="T19" fmla="*/ 1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0" h="108">
                    <a:moveTo>
                      <a:pt x="120" y="108"/>
                    </a:moveTo>
                    <a:cubicBezTo>
                      <a:pt x="53" y="108"/>
                      <a:pt x="0" y="84"/>
                      <a:pt x="0" y="54"/>
                    </a:cubicBezTo>
                    <a:cubicBezTo>
                      <a:pt x="0" y="24"/>
                      <a:pt x="53" y="0"/>
                      <a:pt x="120" y="0"/>
                    </a:cubicBezTo>
                    <a:cubicBezTo>
                      <a:pt x="187" y="0"/>
                      <a:pt x="240" y="24"/>
                      <a:pt x="240" y="54"/>
                    </a:cubicBezTo>
                    <a:cubicBezTo>
                      <a:pt x="240" y="84"/>
                      <a:pt x="187" y="108"/>
                      <a:pt x="120" y="108"/>
                    </a:cubicBezTo>
                    <a:close/>
                    <a:moveTo>
                      <a:pt x="120" y="12"/>
                    </a:moveTo>
                    <a:cubicBezTo>
                      <a:pt x="56" y="12"/>
                      <a:pt x="12" y="34"/>
                      <a:pt x="12" y="54"/>
                    </a:cubicBezTo>
                    <a:cubicBezTo>
                      <a:pt x="12" y="74"/>
                      <a:pt x="56" y="96"/>
                      <a:pt x="120" y="96"/>
                    </a:cubicBezTo>
                    <a:cubicBezTo>
                      <a:pt x="183" y="96"/>
                      <a:pt x="228" y="74"/>
                      <a:pt x="228" y="54"/>
                    </a:cubicBezTo>
                    <a:cubicBezTo>
                      <a:pt x="228" y="34"/>
                      <a:pt x="183" y="12"/>
                      <a:pt x="12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E3D256B9-3BA9-11C0-6BD7-5638EBCED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579"/>
                <a:ext cx="213" cy="89"/>
              </a:xfrm>
              <a:custGeom>
                <a:avLst/>
                <a:gdLst>
                  <a:gd name="T0" fmla="*/ 120 w 144"/>
                  <a:gd name="T1" fmla="*/ 60 h 60"/>
                  <a:gd name="T2" fmla="*/ 0 w 144"/>
                  <a:gd name="T3" fmla="*/ 6 h 60"/>
                  <a:gd name="T4" fmla="*/ 6 w 144"/>
                  <a:gd name="T5" fmla="*/ 0 h 60"/>
                  <a:gd name="T6" fmla="*/ 12 w 144"/>
                  <a:gd name="T7" fmla="*/ 6 h 60"/>
                  <a:gd name="T8" fmla="*/ 120 w 144"/>
                  <a:gd name="T9" fmla="*/ 48 h 60"/>
                  <a:gd name="T10" fmla="*/ 137 w 144"/>
                  <a:gd name="T11" fmla="*/ 47 h 60"/>
                  <a:gd name="T12" fmla="*/ 144 w 144"/>
                  <a:gd name="T13" fmla="*/ 53 h 60"/>
                  <a:gd name="T14" fmla="*/ 138 w 144"/>
                  <a:gd name="T15" fmla="*/ 59 h 60"/>
                  <a:gd name="T16" fmla="*/ 120 w 144"/>
                  <a:gd name="T17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60">
                    <a:moveTo>
                      <a:pt x="120" y="60"/>
                    </a:moveTo>
                    <a:cubicBezTo>
                      <a:pt x="53" y="60"/>
                      <a:pt x="0" y="3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26"/>
                      <a:pt x="56" y="48"/>
                      <a:pt x="120" y="48"/>
                    </a:cubicBezTo>
                    <a:cubicBezTo>
                      <a:pt x="126" y="48"/>
                      <a:pt x="132" y="48"/>
                      <a:pt x="137" y="47"/>
                    </a:cubicBezTo>
                    <a:cubicBezTo>
                      <a:pt x="141" y="47"/>
                      <a:pt x="144" y="50"/>
                      <a:pt x="144" y="53"/>
                    </a:cubicBezTo>
                    <a:cubicBezTo>
                      <a:pt x="144" y="56"/>
                      <a:pt x="142" y="59"/>
                      <a:pt x="138" y="59"/>
                    </a:cubicBezTo>
                    <a:cubicBezTo>
                      <a:pt x="132" y="60"/>
                      <a:pt x="126" y="60"/>
                      <a:pt x="120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690CEEB5-9099-7900-0454-273712019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659"/>
                <a:ext cx="187" cy="89"/>
              </a:xfrm>
              <a:custGeom>
                <a:avLst/>
                <a:gdLst>
                  <a:gd name="T0" fmla="*/ 120 w 126"/>
                  <a:gd name="T1" fmla="*/ 60 h 60"/>
                  <a:gd name="T2" fmla="*/ 0 w 126"/>
                  <a:gd name="T3" fmla="*/ 6 h 60"/>
                  <a:gd name="T4" fmla="*/ 6 w 126"/>
                  <a:gd name="T5" fmla="*/ 0 h 60"/>
                  <a:gd name="T6" fmla="*/ 12 w 126"/>
                  <a:gd name="T7" fmla="*/ 6 h 60"/>
                  <a:gd name="T8" fmla="*/ 120 w 126"/>
                  <a:gd name="T9" fmla="*/ 48 h 60"/>
                  <a:gd name="T10" fmla="*/ 126 w 126"/>
                  <a:gd name="T11" fmla="*/ 54 h 60"/>
                  <a:gd name="T12" fmla="*/ 120 w 126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60">
                    <a:moveTo>
                      <a:pt x="120" y="60"/>
                    </a:moveTo>
                    <a:cubicBezTo>
                      <a:pt x="53" y="60"/>
                      <a:pt x="0" y="3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26"/>
                      <a:pt x="56" y="48"/>
                      <a:pt x="120" y="48"/>
                    </a:cubicBezTo>
                    <a:cubicBezTo>
                      <a:pt x="123" y="48"/>
                      <a:pt x="126" y="51"/>
                      <a:pt x="126" y="54"/>
                    </a:cubicBezTo>
                    <a:cubicBezTo>
                      <a:pt x="126" y="57"/>
                      <a:pt x="123" y="60"/>
                      <a:pt x="120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E00CD99A-B6D7-3670-49D5-CF464169A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508"/>
                <a:ext cx="187" cy="320"/>
              </a:xfrm>
              <a:custGeom>
                <a:avLst/>
                <a:gdLst>
                  <a:gd name="T0" fmla="*/ 120 w 126"/>
                  <a:gd name="T1" fmla="*/ 216 h 216"/>
                  <a:gd name="T2" fmla="*/ 0 w 126"/>
                  <a:gd name="T3" fmla="*/ 162 h 216"/>
                  <a:gd name="T4" fmla="*/ 0 w 126"/>
                  <a:gd name="T5" fmla="*/ 6 h 216"/>
                  <a:gd name="T6" fmla="*/ 6 w 126"/>
                  <a:gd name="T7" fmla="*/ 0 h 216"/>
                  <a:gd name="T8" fmla="*/ 12 w 126"/>
                  <a:gd name="T9" fmla="*/ 6 h 216"/>
                  <a:gd name="T10" fmla="*/ 12 w 126"/>
                  <a:gd name="T11" fmla="*/ 162 h 216"/>
                  <a:gd name="T12" fmla="*/ 120 w 126"/>
                  <a:gd name="T13" fmla="*/ 204 h 216"/>
                  <a:gd name="T14" fmla="*/ 126 w 126"/>
                  <a:gd name="T15" fmla="*/ 210 h 216"/>
                  <a:gd name="T16" fmla="*/ 120 w 126"/>
                  <a:gd name="T17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6" h="216">
                    <a:moveTo>
                      <a:pt x="120" y="216"/>
                    </a:moveTo>
                    <a:cubicBezTo>
                      <a:pt x="53" y="216"/>
                      <a:pt x="0" y="192"/>
                      <a:pt x="0" y="16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162"/>
                      <a:pt x="12" y="162"/>
                      <a:pt x="12" y="162"/>
                    </a:cubicBezTo>
                    <a:cubicBezTo>
                      <a:pt x="12" y="182"/>
                      <a:pt x="56" y="204"/>
                      <a:pt x="120" y="204"/>
                    </a:cubicBezTo>
                    <a:cubicBezTo>
                      <a:pt x="123" y="204"/>
                      <a:pt x="126" y="207"/>
                      <a:pt x="126" y="210"/>
                    </a:cubicBezTo>
                    <a:cubicBezTo>
                      <a:pt x="126" y="213"/>
                      <a:pt x="123" y="216"/>
                      <a:pt x="120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2E5760F0-D890-9740-A895-31534660F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3" y="508"/>
                <a:ext cx="18" cy="116"/>
              </a:xfrm>
              <a:custGeom>
                <a:avLst/>
                <a:gdLst>
                  <a:gd name="T0" fmla="*/ 6 w 12"/>
                  <a:gd name="T1" fmla="*/ 78 h 78"/>
                  <a:gd name="T2" fmla="*/ 0 w 12"/>
                  <a:gd name="T3" fmla="*/ 72 h 78"/>
                  <a:gd name="T4" fmla="*/ 0 w 12"/>
                  <a:gd name="T5" fmla="*/ 6 h 78"/>
                  <a:gd name="T6" fmla="*/ 6 w 12"/>
                  <a:gd name="T7" fmla="*/ 0 h 78"/>
                  <a:gd name="T8" fmla="*/ 12 w 12"/>
                  <a:gd name="T9" fmla="*/ 6 h 78"/>
                  <a:gd name="T10" fmla="*/ 12 w 12"/>
                  <a:gd name="T11" fmla="*/ 72 h 78"/>
                  <a:gd name="T12" fmla="*/ 6 w 12"/>
                  <a:gd name="T13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78">
                    <a:moveTo>
                      <a:pt x="6" y="78"/>
                    </a:moveTo>
                    <a:cubicBezTo>
                      <a:pt x="3" y="78"/>
                      <a:pt x="0" y="75"/>
                      <a:pt x="0" y="7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5"/>
                      <a:pt x="9" y="78"/>
                      <a:pt x="6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ABD0B777-5FEC-9935-6CA2-934EF611B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658"/>
                <a:ext cx="205" cy="206"/>
              </a:xfrm>
              <a:custGeom>
                <a:avLst/>
                <a:gdLst>
                  <a:gd name="T0" fmla="*/ 74 w 138"/>
                  <a:gd name="T1" fmla="*/ 139 h 139"/>
                  <a:gd name="T2" fmla="*/ 42 w 138"/>
                  <a:gd name="T3" fmla="*/ 131 h 139"/>
                  <a:gd name="T4" fmla="*/ 10 w 138"/>
                  <a:gd name="T5" fmla="*/ 91 h 139"/>
                  <a:gd name="T6" fmla="*/ 55 w 138"/>
                  <a:gd name="T7" fmla="*/ 10 h 139"/>
                  <a:gd name="T8" fmla="*/ 137 w 138"/>
                  <a:gd name="T9" fmla="*/ 55 h 139"/>
                  <a:gd name="T10" fmla="*/ 133 w 138"/>
                  <a:gd name="T11" fmla="*/ 62 h 139"/>
                  <a:gd name="T12" fmla="*/ 126 w 138"/>
                  <a:gd name="T13" fmla="*/ 58 h 139"/>
                  <a:gd name="T14" fmla="*/ 59 w 138"/>
                  <a:gd name="T15" fmla="*/ 21 h 139"/>
                  <a:gd name="T16" fmla="*/ 22 w 138"/>
                  <a:gd name="T17" fmla="*/ 88 h 139"/>
                  <a:gd name="T18" fmla="*/ 48 w 138"/>
                  <a:gd name="T19" fmla="*/ 120 h 139"/>
                  <a:gd name="T20" fmla="*/ 89 w 138"/>
                  <a:gd name="T21" fmla="*/ 125 h 139"/>
                  <a:gd name="T22" fmla="*/ 96 w 138"/>
                  <a:gd name="T23" fmla="*/ 129 h 139"/>
                  <a:gd name="T24" fmla="*/ 92 w 138"/>
                  <a:gd name="T25" fmla="*/ 136 h 139"/>
                  <a:gd name="T26" fmla="*/ 74 w 138"/>
                  <a:gd name="T27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8" h="139">
                    <a:moveTo>
                      <a:pt x="74" y="139"/>
                    </a:moveTo>
                    <a:cubicBezTo>
                      <a:pt x="63" y="139"/>
                      <a:pt x="52" y="136"/>
                      <a:pt x="42" y="131"/>
                    </a:cubicBezTo>
                    <a:cubicBezTo>
                      <a:pt x="27" y="122"/>
                      <a:pt x="15" y="108"/>
                      <a:pt x="10" y="91"/>
                    </a:cubicBezTo>
                    <a:cubicBezTo>
                      <a:pt x="0" y="57"/>
                      <a:pt x="20" y="20"/>
                      <a:pt x="55" y="10"/>
                    </a:cubicBezTo>
                    <a:cubicBezTo>
                      <a:pt x="90" y="0"/>
                      <a:pt x="127" y="20"/>
                      <a:pt x="137" y="55"/>
                    </a:cubicBezTo>
                    <a:cubicBezTo>
                      <a:pt x="138" y="58"/>
                      <a:pt x="136" y="61"/>
                      <a:pt x="133" y="62"/>
                    </a:cubicBezTo>
                    <a:cubicBezTo>
                      <a:pt x="130" y="63"/>
                      <a:pt x="127" y="61"/>
                      <a:pt x="126" y="58"/>
                    </a:cubicBezTo>
                    <a:cubicBezTo>
                      <a:pt x="117" y="29"/>
                      <a:pt x="87" y="13"/>
                      <a:pt x="59" y="21"/>
                    </a:cubicBezTo>
                    <a:cubicBezTo>
                      <a:pt x="30" y="29"/>
                      <a:pt x="14" y="60"/>
                      <a:pt x="22" y="88"/>
                    </a:cubicBezTo>
                    <a:cubicBezTo>
                      <a:pt x="26" y="102"/>
                      <a:pt x="35" y="113"/>
                      <a:pt x="48" y="120"/>
                    </a:cubicBezTo>
                    <a:cubicBezTo>
                      <a:pt x="61" y="127"/>
                      <a:pt x="75" y="129"/>
                      <a:pt x="89" y="125"/>
                    </a:cubicBezTo>
                    <a:cubicBezTo>
                      <a:pt x="92" y="124"/>
                      <a:pt x="95" y="126"/>
                      <a:pt x="96" y="129"/>
                    </a:cubicBezTo>
                    <a:cubicBezTo>
                      <a:pt x="97" y="132"/>
                      <a:pt x="96" y="135"/>
                      <a:pt x="92" y="136"/>
                    </a:cubicBezTo>
                    <a:cubicBezTo>
                      <a:pt x="86" y="138"/>
                      <a:pt x="80" y="139"/>
                      <a:pt x="74" y="1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06A50D5B-23C9-BC21-BA46-B26A76773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" y="683"/>
                <a:ext cx="80" cy="67"/>
              </a:xfrm>
              <a:custGeom>
                <a:avLst/>
                <a:gdLst>
                  <a:gd name="T0" fmla="*/ 39 w 54"/>
                  <a:gd name="T1" fmla="*/ 45 h 45"/>
                  <a:gd name="T2" fmla="*/ 38 w 54"/>
                  <a:gd name="T3" fmla="*/ 45 h 45"/>
                  <a:gd name="T4" fmla="*/ 5 w 54"/>
                  <a:gd name="T5" fmla="*/ 37 h 45"/>
                  <a:gd name="T6" fmla="*/ 1 w 54"/>
                  <a:gd name="T7" fmla="*/ 29 h 45"/>
                  <a:gd name="T8" fmla="*/ 8 w 54"/>
                  <a:gd name="T9" fmla="*/ 25 h 45"/>
                  <a:gd name="T10" fmla="*/ 35 w 54"/>
                  <a:gd name="T11" fmla="*/ 32 h 45"/>
                  <a:gd name="T12" fmla="*/ 42 w 54"/>
                  <a:gd name="T13" fmla="*/ 5 h 45"/>
                  <a:gd name="T14" fmla="*/ 49 w 54"/>
                  <a:gd name="T15" fmla="*/ 1 h 45"/>
                  <a:gd name="T16" fmla="*/ 54 w 54"/>
                  <a:gd name="T17" fmla="*/ 8 h 45"/>
                  <a:gd name="T18" fmla="*/ 45 w 54"/>
                  <a:gd name="T19" fmla="*/ 41 h 45"/>
                  <a:gd name="T20" fmla="*/ 39 w 54"/>
                  <a:gd name="T21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4" h="45">
                    <a:moveTo>
                      <a:pt x="39" y="45"/>
                    </a:moveTo>
                    <a:cubicBezTo>
                      <a:pt x="39" y="45"/>
                      <a:pt x="38" y="45"/>
                      <a:pt x="38" y="45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2" y="36"/>
                      <a:pt x="0" y="33"/>
                      <a:pt x="1" y="29"/>
                    </a:cubicBezTo>
                    <a:cubicBezTo>
                      <a:pt x="2" y="26"/>
                      <a:pt x="5" y="24"/>
                      <a:pt x="8" y="25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3" y="2"/>
                      <a:pt x="46" y="0"/>
                      <a:pt x="49" y="1"/>
                    </a:cubicBezTo>
                    <a:cubicBezTo>
                      <a:pt x="53" y="1"/>
                      <a:pt x="54" y="5"/>
                      <a:pt x="54" y="8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5" y="43"/>
                      <a:pt x="42" y="45"/>
                      <a:pt x="3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4B79955-3F90-7A46-89BF-C2E74A3F98D6}"/>
              </a:ext>
            </a:extLst>
          </p:cNvPr>
          <p:cNvSpPr txBox="1"/>
          <p:nvPr/>
        </p:nvSpPr>
        <p:spPr>
          <a:xfrm>
            <a:off x="3064166" y="2024716"/>
            <a:ext cx="1129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Connectors</a:t>
            </a:r>
            <a:endParaRPr lang="en-IN" sz="10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522FB46-9A41-A626-6316-81B7AC7F0692}"/>
              </a:ext>
            </a:extLst>
          </p:cNvPr>
          <p:cNvSpPr txBox="1"/>
          <p:nvPr/>
        </p:nvSpPr>
        <p:spPr>
          <a:xfrm>
            <a:off x="5141670" y="2024716"/>
            <a:ext cx="1129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Data Quality</a:t>
            </a:r>
            <a:endParaRPr lang="en-IN" sz="10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E49245-6A48-21B0-2017-F308855B042F}"/>
              </a:ext>
            </a:extLst>
          </p:cNvPr>
          <p:cNvSpPr txBox="1"/>
          <p:nvPr/>
        </p:nvSpPr>
        <p:spPr>
          <a:xfrm>
            <a:off x="7275336" y="2024716"/>
            <a:ext cx="1311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Feature Engineering</a:t>
            </a:r>
            <a:endParaRPr lang="en-IN" sz="10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ED136E-2F3F-4DF5-D41E-82E9A97F5E45}"/>
              </a:ext>
            </a:extLst>
          </p:cNvPr>
          <p:cNvSpPr txBox="1"/>
          <p:nvPr/>
        </p:nvSpPr>
        <p:spPr>
          <a:xfrm>
            <a:off x="9081812" y="2024716"/>
            <a:ext cx="1785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Feature Quality Validation</a:t>
            </a:r>
            <a:endParaRPr lang="en-IN" sz="100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986FDF5-61C2-3C5A-7B2F-A5BE54F8B4EC}"/>
              </a:ext>
            </a:extLst>
          </p:cNvPr>
          <p:cNvGrpSpPr/>
          <p:nvPr/>
        </p:nvGrpSpPr>
        <p:grpSpPr>
          <a:xfrm>
            <a:off x="5383367" y="2411385"/>
            <a:ext cx="676656" cy="676656"/>
            <a:chOff x="6096000" y="1474939"/>
            <a:chExt cx="687753" cy="674896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85BF087-8273-43C2-62F4-1456477A0F06}"/>
                </a:ext>
              </a:extLst>
            </p:cNvPr>
            <p:cNvSpPr/>
            <p:nvPr/>
          </p:nvSpPr>
          <p:spPr>
            <a:xfrm>
              <a:off x="6096000" y="1474939"/>
              <a:ext cx="669601" cy="674896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7" name="Graphic 36" descr="Rating Star with solid fill">
              <a:extLst>
                <a:ext uri="{FF2B5EF4-FFF2-40B4-BE49-F238E27FC236}">
                  <a16:creationId xmlns:a16="http://schemas.microsoft.com/office/drawing/2014/main" id="{F562C4C7-C102-542E-2CA9-99E8795AD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08857" y="1474939"/>
              <a:ext cx="674896" cy="67489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A79741-14E2-D29D-DDD2-51D89058932B}"/>
              </a:ext>
            </a:extLst>
          </p:cNvPr>
          <p:cNvGrpSpPr/>
          <p:nvPr/>
        </p:nvGrpSpPr>
        <p:grpSpPr>
          <a:xfrm>
            <a:off x="7594522" y="2411385"/>
            <a:ext cx="676656" cy="676656"/>
            <a:chOff x="6980031" y="1739725"/>
            <a:chExt cx="676656" cy="676656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F5CCCF2-4245-A8AB-5248-096AEC336F82}"/>
                </a:ext>
              </a:extLst>
            </p:cNvPr>
            <p:cNvSpPr/>
            <p:nvPr/>
          </p:nvSpPr>
          <p:spPr>
            <a:xfrm>
              <a:off x="6980031" y="1739725"/>
              <a:ext cx="676656" cy="676656"/>
            </a:xfrm>
            <a:prstGeom prst="ellipse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5" name="Graphic 64" descr="Label with solid fill">
              <a:extLst>
                <a:ext uri="{FF2B5EF4-FFF2-40B4-BE49-F238E27FC236}">
                  <a16:creationId xmlns:a16="http://schemas.microsoft.com/office/drawing/2014/main" id="{A39AA91F-6218-05C6-8110-DCACE1D9C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39014" y="1798708"/>
              <a:ext cx="558691" cy="558691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45A368-1D15-CCD7-586A-BFFD76D2370A}"/>
              </a:ext>
            </a:extLst>
          </p:cNvPr>
          <p:cNvGrpSpPr/>
          <p:nvPr/>
        </p:nvGrpSpPr>
        <p:grpSpPr>
          <a:xfrm>
            <a:off x="9636108" y="2411385"/>
            <a:ext cx="676656" cy="676656"/>
            <a:chOff x="6102428" y="1465415"/>
            <a:chExt cx="674896" cy="674896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83CEB55-30C8-1B9C-35D1-858317B3CCD3}"/>
                </a:ext>
              </a:extLst>
            </p:cNvPr>
            <p:cNvSpPr/>
            <p:nvPr/>
          </p:nvSpPr>
          <p:spPr>
            <a:xfrm>
              <a:off x="6105076" y="1465415"/>
              <a:ext cx="669601" cy="674896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1" name="Graphic 80" descr="Rating Star with solid fill">
              <a:extLst>
                <a:ext uri="{FF2B5EF4-FFF2-40B4-BE49-F238E27FC236}">
                  <a16:creationId xmlns:a16="http://schemas.microsoft.com/office/drawing/2014/main" id="{928FAE1D-B93D-836F-092B-0D1B40CFF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02428" y="1465415"/>
              <a:ext cx="674896" cy="674896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7EFF655-F39A-ECE6-6262-89145A7C0857}"/>
              </a:ext>
            </a:extLst>
          </p:cNvPr>
          <p:cNvGrpSpPr/>
          <p:nvPr/>
        </p:nvGrpSpPr>
        <p:grpSpPr>
          <a:xfrm>
            <a:off x="9636108" y="3868886"/>
            <a:ext cx="676656" cy="676656"/>
            <a:chOff x="8117445" y="1376095"/>
            <a:chExt cx="650635" cy="639078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D2E4152-0754-A5DD-B569-25BC0D16E2A6}"/>
                </a:ext>
              </a:extLst>
            </p:cNvPr>
            <p:cNvSpPr/>
            <p:nvPr/>
          </p:nvSpPr>
          <p:spPr>
            <a:xfrm>
              <a:off x="8117445" y="1376095"/>
              <a:ext cx="650635" cy="639078"/>
            </a:xfrm>
            <a:prstGeom prst="ellipse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3" name="Graphic 102" descr="Gymnast: Rings with solid fill">
              <a:extLst>
                <a:ext uri="{FF2B5EF4-FFF2-40B4-BE49-F238E27FC236}">
                  <a16:creationId xmlns:a16="http://schemas.microsoft.com/office/drawing/2014/main" id="{F38E7866-189D-39AB-B09E-1860E32D2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60445" y="1413317"/>
              <a:ext cx="564634" cy="564634"/>
            </a:xfrm>
            <a:prstGeom prst="rect">
              <a:avLst/>
            </a:prstGeom>
          </p:spPr>
        </p:pic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277DA541-64F1-E1E3-4528-1043E43D8C57}"/>
              </a:ext>
            </a:extLst>
          </p:cNvPr>
          <p:cNvSpPr txBox="1"/>
          <p:nvPr/>
        </p:nvSpPr>
        <p:spPr>
          <a:xfrm>
            <a:off x="9080052" y="3555872"/>
            <a:ext cx="1785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Model Training Improvements </a:t>
            </a:r>
            <a:endParaRPr lang="en-IN" sz="1000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CD843ED-BC7B-B2EC-E999-FE05CF5FC44A}"/>
              </a:ext>
            </a:extLst>
          </p:cNvPr>
          <p:cNvGrpSpPr/>
          <p:nvPr/>
        </p:nvGrpSpPr>
        <p:grpSpPr>
          <a:xfrm>
            <a:off x="7515706" y="3868886"/>
            <a:ext cx="676656" cy="676656"/>
            <a:chOff x="6869040" y="1523348"/>
            <a:chExt cx="676656" cy="676656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F55574F-9B88-BBD5-9AE2-244907475C00}"/>
                </a:ext>
              </a:extLst>
            </p:cNvPr>
            <p:cNvSpPr/>
            <p:nvPr/>
          </p:nvSpPr>
          <p:spPr>
            <a:xfrm>
              <a:off x="6869040" y="1523348"/>
              <a:ext cx="676656" cy="676656"/>
            </a:xfrm>
            <a:prstGeom prst="ellipse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8" name="Graphic 107" descr="Disk with solid fill">
              <a:extLst>
                <a:ext uri="{FF2B5EF4-FFF2-40B4-BE49-F238E27FC236}">
                  <a16:creationId xmlns:a16="http://schemas.microsoft.com/office/drawing/2014/main" id="{5216B455-A5B6-E41E-7330-B972FA50B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20555" y="1574863"/>
              <a:ext cx="573627" cy="573627"/>
            </a:xfrm>
            <a:prstGeom prst="rect">
              <a:avLst/>
            </a:prstGeom>
          </p:spPr>
        </p:pic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1C3D2B3-347A-B9E0-0D31-B8EA3B632645}"/>
              </a:ext>
            </a:extLst>
          </p:cNvPr>
          <p:cNvSpPr txBox="1"/>
          <p:nvPr/>
        </p:nvSpPr>
        <p:spPr>
          <a:xfrm>
            <a:off x="7289247" y="3555872"/>
            <a:ext cx="1129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Metadata Mgmt. </a:t>
            </a:r>
            <a:endParaRPr lang="en-IN" sz="100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50B85E2-584E-389A-2AC8-6052F30171F7}"/>
              </a:ext>
            </a:extLst>
          </p:cNvPr>
          <p:cNvGrpSpPr/>
          <p:nvPr/>
        </p:nvGrpSpPr>
        <p:grpSpPr>
          <a:xfrm>
            <a:off x="3274906" y="3868886"/>
            <a:ext cx="676656" cy="676656"/>
            <a:chOff x="3748564" y="1312866"/>
            <a:chExt cx="676656" cy="676656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63DDF4BD-E865-F1D4-60CD-0F216DA16A19}"/>
                </a:ext>
              </a:extLst>
            </p:cNvPr>
            <p:cNvSpPr/>
            <p:nvPr/>
          </p:nvSpPr>
          <p:spPr>
            <a:xfrm>
              <a:off x="3748564" y="1312866"/>
              <a:ext cx="676656" cy="676656"/>
            </a:xfrm>
            <a:prstGeom prst="ellipse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13" name="Graphic 112" descr="Security camera with solid fill">
              <a:extLst>
                <a:ext uri="{FF2B5EF4-FFF2-40B4-BE49-F238E27FC236}">
                  <a16:creationId xmlns:a16="http://schemas.microsoft.com/office/drawing/2014/main" id="{C79A8D9E-CABE-167C-90FB-221B65DAA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27875" y="1392177"/>
              <a:ext cx="518035" cy="518035"/>
            </a:xfrm>
            <a:prstGeom prst="rect">
              <a:avLst/>
            </a:prstGeom>
          </p:spPr>
        </p:pic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AB60337-2027-17FC-E61D-0CE5229E2498}"/>
              </a:ext>
            </a:extLst>
          </p:cNvPr>
          <p:cNvGrpSpPr/>
          <p:nvPr/>
        </p:nvGrpSpPr>
        <p:grpSpPr>
          <a:xfrm>
            <a:off x="5395305" y="3868886"/>
            <a:ext cx="676656" cy="676656"/>
            <a:chOff x="6508631" y="1312866"/>
            <a:chExt cx="676656" cy="676656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025E76C-9D41-16A1-F13F-CAD9F2D32B57}"/>
                </a:ext>
              </a:extLst>
            </p:cNvPr>
            <p:cNvSpPr/>
            <p:nvPr/>
          </p:nvSpPr>
          <p:spPr>
            <a:xfrm>
              <a:off x="6508631" y="1312866"/>
              <a:ext cx="676656" cy="676656"/>
            </a:xfrm>
            <a:prstGeom prst="ellipse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15" name="Graphic 114" descr="Jackhammer with solid fill">
              <a:extLst>
                <a:ext uri="{FF2B5EF4-FFF2-40B4-BE49-F238E27FC236}">
                  <a16:creationId xmlns:a16="http://schemas.microsoft.com/office/drawing/2014/main" id="{911AB4B4-3A98-F0FF-BEE3-12AB25088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87942" y="1392177"/>
              <a:ext cx="518035" cy="518035"/>
            </a:xfrm>
            <a:prstGeom prst="rect">
              <a:avLst/>
            </a:prstGeom>
          </p:spPr>
        </p:pic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C1B7CEC0-2C6B-96CD-4848-21C05F821C88}"/>
              </a:ext>
            </a:extLst>
          </p:cNvPr>
          <p:cNvSpPr txBox="1"/>
          <p:nvPr/>
        </p:nvSpPr>
        <p:spPr>
          <a:xfrm>
            <a:off x="4888006" y="3555872"/>
            <a:ext cx="1677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Model Deployment Strategy</a:t>
            </a:r>
            <a:endParaRPr lang="en-IN" sz="100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B208F30-5A8B-6A65-09AC-22CFE761A1A9}"/>
              </a:ext>
            </a:extLst>
          </p:cNvPr>
          <p:cNvSpPr txBox="1"/>
          <p:nvPr/>
        </p:nvSpPr>
        <p:spPr>
          <a:xfrm>
            <a:off x="3044601" y="3555872"/>
            <a:ext cx="1129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Monitoring</a:t>
            </a:r>
            <a:endParaRPr lang="en-IN" sz="100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C98B7CF-5124-6A3F-DAEF-468125B9AF71}"/>
              </a:ext>
            </a:extLst>
          </p:cNvPr>
          <p:cNvGrpSpPr/>
          <p:nvPr/>
        </p:nvGrpSpPr>
        <p:grpSpPr>
          <a:xfrm>
            <a:off x="3274906" y="5336102"/>
            <a:ext cx="676656" cy="676656"/>
            <a:chOff x="5710548" y="1255735"/>
            <a:chExt cx="676656" cy="676656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58C0A885-3B53-6685-435D-B588F33324DD}"/>
                </a:ext>
              </a:extLst>
            </p:cNvPr>
            <p:cNvSpPr/>
            <p:nvPr/>
          </p:nvSpPr>
          <p:spPr>
            <a:xfrm>
              <a:off x="5710548" y="1255735"/>
              <a:ext cx="676656" cy="676656"/>
            </a:xfrm>
            <a:prstGeom prst="ellipse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31" name="Graphic 130" descr="Medieval tower with solid fill">
              <a:extLst>
                <a:ext uri="{FF2B5EF4-FFF2-40B4-BE49-F238E27FC236}">
                  <a16:creationId xmlns:a16="http://schemas.microsoft.com/office/drawing/2014/main" id="{1F9011B4-7564-1AD3-4AFE-D21497DB6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93363" y="1349191"/>
              <a:ext cx="564634" cy="564634"/>
            </a:xfrm>
            <a:prstGeom prst="rect">
              <a:avLst/>
            </a:prstGeom>
          </p:spPr>
        </p:pic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493EEFB7-8140-94F5-54A0-0AD88FD04B87}"/>
              </a:ext>
            </a:extLst>
          </p:cNvPr>
          <p:cNvSpPr txBox="1"/>
          <p:nvPr/>
        </p:nvSpPr>
        <p:spPr>
          <a:xfrm>
            <a:off x="3076720" y="4926691"/>
            <a:ext cx="1129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Responsible.AI</a:t>
            </a:r>
            <a:endParaRPr lang="en-IN" sz="1000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E6D607D-F924-F720-1BEA-181DD6B42673}"/>
              </a:ext>
            </a:extLst>
          </p:cNvPr>
          <p:cNvGrpSpPr/>
          <p:nvPr/>
        </p:nvGrpSpPr>
        <p:grpSpPr>
          <a:xfrm>
            <a:off x="5395307" y="5334194"/>
            <a:ext cx="676656" cy="676656"/>
            <a:chOff x="5692189" y="1376095"/>
            <a:chExt cx="676656" cy="680472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D51A9CA-3313-6DBF-621F-BD5CE6EFBE7C}"/>
                </a:ext>
              </a:extLst>
            </p:cNvPr>
            <p:cNvSpPr/>
            <p:nvPr/>
          </p:nvSpPr>
          <p:spPr>
            <a:xfrm>
              <a:off x="5692189" y="1376095"/>
              <a:ext cx="676656" cy="680472"/>
            </a:xfrm>
            <a:prstGeom prst="ellipse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37" name="Graphic 136" descr="Camera with solid fill">
              <a:extLst>
                <a:ext uri="{FF2B5EF4-FFF2-40B4-BE49-F238E27FC236}">
                  <a16:creationId xmlns:a16="http://schemas.microsoft.com/office/drawing/2014/main" id="{F9BA5B4F-703F-4613-0A17-31904FDB0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746909" y="1432723"/>
              <a:ext cx="567216" cy="567216"/>
            </a:xfrm>
            <a:prstGeom prst="rect">
              <a:avLst/>
            </a:prstGeom>
          </p:spPr>
        </p:pic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10BCD03-F53C-1E00-F8D6-AFFDD570EA5E}"/>
              </a:ext>
            </a:extLst>
          </p:cNvPr>
          <p:cNvSpPr txBox="1"/>
          <p:nvPr/>
        </p:nvSpPr>
        <p:spPr>
          <a:xfrm>
            <a:off x="5187110" y="4926691"/>
            <a:ext cx="1129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Observability </a:t>
            </a:r>
            <a:endParaRPr lang="en-IN" sz="100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A997224-BA71-3901-E1D1-1535F8231133}"/>
              </a:ext>
            </a:extLst>
          </p:cNvPr>
          <p:cNvGrpSpPr/>
          <p:nvPr/>
        </p:nvGrpSpPr>
        <p:grpSpPr>
          <a:xfrm>
            <a:off x="7515708" y="5336102"/>
            <a:ext cx="676656" cy="676656"/>
            <a:chOff x="5538342" y="1290854"/>
            <a:chExt cx="676656" cy="676656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F61EE71C-FD8F-8B59-B545-6BBB41330FA6}"/>
                </a:ext>
              </a:extLst>
            </p:cNvPr>
            <p:cNvSpPr/>
            <p:nvPr/>
          </p:nvSpPr>
          <p:spPr>
            <a:xfrm>
              <a:off x="5538342" y="1290854"/>
              <a:ext cx="676656" cy="676656"/>
            </a:xfrm>
            <a:prstGeom prst="ellipse">
              <a:avLst/>
            </a:prstGeom>
            <a:ln w="349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2" name="Graphic 141" descr="Presentation with pie chart with solid fill">
              <a:extLst>
                <a:ext uri="{FF2B5EF4-FFF2-40B4-BE49-F238E27FC236}">
                  <a16:creationId xmlns:a16="http://schemas.microsoft.com/office/drawing/2014/main" id="{FA5EACB8-A320-4C06-A7BE-04416D8D8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582504" y="1341031"/>
              <a:ext cx="564634" cy="564634"/>
            </a:xfrm>
            <a:prstGeom prst="rect">
              <a:avLst/>
            </a:prstGeom>
          </p:spPr>
        </p:pic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E1FABF0A-3FEE-1BA8-B47C-AE6F05F6CFBB}"/>
              </a:ext>
            </a:extLst>
          </p:cNvPr>
          <p:cNvSpPr txBox="1"/>
          <p:nvPr/>
        </p:nvSpPr>
        <p:spPr>
          <a:xfrm>
            <a:off x="7297500" y="4926691"/>
            <a:ext cx="1129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Feedback/Review</a:t>
            </a:r>
            <a:endParaRPr lang="en-IN" sz="100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63B64E1-EA73-4D09-B4D1-A3E250286CA2}"/>
              </a:ext>
            </a:extLst>
          </p:cNvPr>
          <p:cNvGrpSpPr/>
          <p:nvPr/>
        </p:nvGrpSpPr>
        <p:grpSpPr>
          <a:xfrm>
            <a:off x="9636108" y="5336102"/>
            <a:ext cx="676656" cy="676656"/>
            <a:chOff x="9885285" y="5118020"/>
            <a:chExt cx="654508" cy="676656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84928F8-BA15-0B2E-9A8A-239D32C01AB7}"/>
                </a:ext>
              </a:extLst>
            </p:cNvPr>
            <p:cNvSpPr/>
            <p:nvPr/>
          </p:nvSpPr>
          <p:spPr>
            <a:xfrm>
              <a:off x="9885285" y="5118020"/>
              <a:ext cx="654508" cy="676656"/>
            </a:xfrm>
            <a:prstGeom prst="ellipse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7" name="Graphic 146" descr="Hamburger Menu Icon with solid fill">
              <a:extLst>
                <a:ext uri="{FF2B5EF4-FFF2-40B4-BE49-F238E27FC236}">
                  <a16:creationId xmlns:a16="http://schemas.microsoft.com/office/drawing/2014/main" id="{AECDA4DC-7260-8A67-331C-03B7C3A41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0001466" y="5245275"/>
              <a:ext cx="422147" cy="422147"/>
            </a:xfrm>
            <a:prstGeom prst="rect">
              <a:avLst/>
            </a:prstGeom>
          </p:spPr>
        </p:pic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440F5EA6-9676-142D-0B74-D9FA967B753F}"/>
              </a:ext>
            </a:extLst>
          </p:cNvPr>
          <p:cNvSpPr txBox="1"/>
          <p:nvPr/>
        </p:nvSpPr>
        <p:spPr>
          <a:xfrm>
            <a:off x="9407889" y="4926691"/>
            <a:ext cx="1129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Catalog </a:t>
            </a:r>
            <a:endParaRPr lang="en-IN" sz="1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E5018-F3DF-794B-F4C2-E635D7D4BC5F}"/>
              </a:ext>
            </a:extLst>
          </p:cNvPr>
          <p:cNvSpPr/>
          <p:nvPr/>
        </p:nvSpPr>
        <p:spPr>
          <a:xfrm>
            <a:off x="7324630" y="1376096"/>
            <a:ext cx="3678650" cy="6094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Programmer male with solid fill">
            <a:extLst>
              <a:ext uri="{FF2B5EF4-FFF2-40B4-BE49-F238E27FC236}">
                <a16:creationId xmlns:a16="http://schemas.microsoft.com/office/drawing/2014/main" id="{D68453FD-C852-C2AC-2388-8A0B8F267DA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732965" y="1376284"/>
            <a:ext cx="396145" cy="3961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890A42-5040-2BA9-7081-8CF8866060A8}"/>
              </a:ext>
            </a:extLst>
          </p:cNvPr>
          <p:cNvSpPr txBox="1"/>
          <p:nvPr/>
        </p:nvSpPr>
        <p:spPr>
          <a:xfrm>
            <a:off x="7464596" y="1747888"/>
            <a:ext cx="9328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Data Engineering</a:t>
            </a:r>
            <a:endParaRPr lang="en-IN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FE54C-F222-DBA1-C0F4-43472533BAA6}"/>
              </a:ext>
            </a:extLst>
          </p:cNvPr>
          <p:cNvSpPr txBox="1"/>
          <p:nvPr/>
        </p:nvSpPr>
        <p:spPr>
          <a:xfrm>
            <a:off x="8804729" y="1746200"/>
            <a:ext cx="8615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Data Science</a:t>
            </a:r>
            <a:endParaRPr lang="en-IN" sz="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2BB261-FCF9-C4A5-91FF-028F213F3B9F}"/>
              </a:ext>
            </a:extLst>
          </p:cNvPr>
          <p:cNvSpPr txBox="1"/>
          <p:nvPr/>
        </p:nvSpPr>
        <p:spPr>
          <a:xfrm>
            <a:off x="10027459" y="1746200"/>
            <a:ext cx="1055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ML Engineering</a:t>
            </a:r>
            <a:endParaRPr lang="en-IN" sz="800"/>
          </a:p>
        </p:txBody>
      </p:sp>
      <p:pic>
        <p:nvPicPr>
          <p:cNvPr id="14" name="Graphic 13" descr="Programmer male with solid fill">
            <a:extLst>
              <a:ext uri="{FF2B5EF4-FFF2-40B4-BE49-F238E27FC236}">
                <a16:creationId xmlns:a16="http://schemas.microsoft.com/office/drawing/2014/main" id="{9A641580-CEB8-C8AE-E5C8-86F3F27BEA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037408" y="1370118"/>
            <a:ext cx="396145" cy="396145"/>
          </a:xfrm>
          <a:prstGeom prst="rect">
            <a:avLst/>
          </a:prstGeom>
        </p:spPr>
      </p:pic>
      <p:pic>
        <p:nvPicPr>
          <p:cNvPr id="15" name="Graphic 14" descr="Programmer male with solid fill">
            <a:extLst>
              <a:ext uri="{FF2B5EF4-FFF2-40B4-BE49-F238E27FC236}">
                <a16:creationId xmlns:a16="http://schemas.microsoft.com/office/drawing/2014/main" id="{5FBACA6A-AF3A-5DD3-3311-AB5C0945F88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57146" y="1406609"/>
            <a:ext cx="396145" cy="396145"/>
          </a:xfrm>
          <a:prstGeom prst="rect">
            <a:avLst/>
          </a:prstGeom>
        </p:spPr>
      </p:pic>
      <p:pic>
        <p:nvPicPr>
          <p:cNvPr id="17" name="Graphic 16" descr="Programmer male with solid fill">
            <a:extLst>
              <a:ext uri="{FF2B5EF4-FFF2-40B4-BE49-F238E27FC236}">
                <a16:creationId xmlns:a16="http://schemas.microsoft.com/office/drawing/2014/main" id="{E316A2B0-6B7C-CFCD-D2C4-53639AF570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498932" y="3174723"/>
            <a:ext cx="228600" cy="228600"/>
          </a:xfrm>
          <a:prstGeom prst="rect">
            <a:avLst/>
          </a:prstGeom>
        </p:spPr>
      </p:pic>
      <p:pic>
        <p:nvPicPr>
          <p:cNvPr id="18" name="Graphic 17" descr="Programmer male with solid fill">
            <a:extLst>
              <a:ext uri="{FF2B5EF4-FFF2-40B4-BE49-F238E27FC236}">
                <a16:creationId xmlns:a16="http://schemas.microsoft.com/office/drawing/2014/main" id="{5CDB96D5-7D3F-0872-213B-A5F87AAE81D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607395" y="3174723"/>
            <a:ext cx="228600" cy="228600"/>
          </a:xfrm>
          <a:prstGeom prst="rect">
            <a:avLst/>
          </a:prstGeom>
        </p:spPr>
      </p:pic>
      <p:pic>
        <p:nvPicPr>
          <p:cNvPr id="22" name="Graphic 21" descr="Programmer male with solid fill">
            <a:extLst>
              <a:ext uri="{FF2B5EF4-FFF2-40B4-BE49-F238E27FC236}">
                <a16:creationId xmlns:a16="http://schemas.microsoft.com/office/drawing/2014/main" id="{2858DA2D-1E8B-5C10-29CA-AD0ECE56630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860136" y="3174723"/>
            <a:ext cx="228600" cy="228600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1684BA8-F541-3CB0-0549-681520F3D752}"/>
              </a:ext>
            </a:extLst>
          </p:cNvPr>
          <p:cNvGrpSpPr/>
          <p:nvPr/>
        </p:nvGrpSpPr>
        <p:grpSpPr>
          <a:xfrm>
            <a:off x="7689692" y="3174723"/>
            <a:ext cx="486316" cy="228600"/>
            <a:chOff x="7624239" y="3174723"/>
            <a:chExt cx="486316" cy="228600"/>
          </a:xfrm>
        </p:grpSpPr>
        <p:pic>
          <p:nvPicPr>
            <p:cNvPr id="19" name="Graphic 18" descr="Programmer male with solid fill">
              <a:extLst>
                <a:ext uri="{FF2B5EF4-FFF2-40B4-BE49-F238E27FC236}">
                  <a16:creationId xmlns:a16="http://schemas.microsoft.com/office/drawing/2014/main" id="{D691B175-6591-74A2-DEF4-6179A6DB7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624239" y="3174723"/>
              <a:ext cx="228600" cy="228600"/>
            </a:xfrm>
            <a:prstGeom prst="rect">
              <a:avLst/>
            </a:prstGeom>
          </p:spPr>
        </p:pic>
        <p:pic>
          <p:nvPicPr>
            <p:cNvPr id="21" name="Graphic 20" descr="Programmer male with solid fill">
              <a:extLst>
                <a:ext uri="{FF2B5EF4-FFF2-40B4-BE49-F238E27FC236}">
                  <a16:creationId xmlns:a16="http://schemas.microsoft.com/office/drawing/2014/main" id="{3A10EA7E-27BC-1CC4-CA62-4D698BBA5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881955" y="3174723"/>
              <a:ext cx="228600" cy="228600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5ADEAE2-3588-FB09-DD38-C5BE6C35D37C}"/>
              </a:ext>
            </a:extLst>
          </p:cNvPr>
          <p:cNvGrpSpPr/>
          <p:nvPr/>
        </p:nvGrpSpPr>
        <p:grpSpPr>
          <a:xfrm>
            <a:off x="7610876" y="4604426"/>
            <a:ext cx="486316" cy="228600"/>
            <a:chOff x="7689692" y="4604426"/>
            <a:chExt cx="486316" cy="228600"/>
          </a:xfrm>
        </p:grpSpPr>
        <p:pic>
          <p:nvPicPr>
            <p:cNvPr id="26" name="Graphic 25" descr="Programmer male with solid fill">
              <a:extLst>
                <a:ext uri="{FF2B5EF4-FFF2-40B4-BE49-F238E27FC236}">
                  <a16:creationId xmlns:a16="http://schemas.microsoft.com/office/drawing/2014/main" id="{1096A007-27F1-BC57-1985-7861898CD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947408" y="4604426"/>
              <a:ext cx="228600" cy="228600"/>
            </a:xfrm>
            <a:prstGeom prst="rect">
              <a:avLst/>
            </a:prstGeom>
          </p:spPr>
        </p:pic>
        <p:pic>
          <p:nvPicPr>
            <p:cNvPr id="28" name="Graphic 27" descr="Programmer male with solid fill">
              <a:extLst>
                <a:ext uri="{FF2B5EF4-FFF2-40B4-BE49-F238E27FC236}">
                  <a16:creationId xmlns:a16="http://schemas.microsoft.com/office/drawing/2014/main" id="{F5A87E28-4977-E207-8AFD-78DA3F43B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689692" y="4604426"/>
              <a:ext cx="228600" cy="228600"/>
            </a:xfrm>
            <a:prstGeom prst="rect">
              <a:avLst/>
            </a:prstGeom>
          </p:spPr>
        </p:pic>
      </p:grpSp>
      <p:pic>
        <p:nvPicPr>
          <p:cNvPr id="36" name="Graphic 35" descr="Programmer male with solid fill">
            <a:extLst>
              <a:ext uri="{FF2B5EF4-FFF2-40B4-BE49-F238E27FC236}">
                <a16:creationId xmlns:a16="http://schemas.microsoft.com/office/drawing/2014/main" id="{AAF162AF-A176-6151-614E-181E3D7DFF0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619333" y="4604426"/>
            <a:ext cx="228600" cy="228600"/>
          </a:xfrm>
          <a:prstGeom prst="rect">
            <a:avLst/>
          </a:prstGeom>
        </p:spPr>
      </p:pic>
      <p:pic>
        <p:nvPicPr>
          <p:cNvPr id="38" name="Graphic 37" descr="Programmer male with solid fill">
            <a:extLst>
              <a:ext uri="{FF2B5EF4-FFF2-40B4-BE49-F238E27FC236}">
                <a16:creationId xmlns:a16="http://schemas.microsoft.com/office/drawing/2014/main" id="{765F3405-715E-70EF-5D6F-8BA4B1F100A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498932" y="4604426"/>
            <a:ext cx="228600" cy="228600"/>
          </a:xfrm>
          <a:prstGeom prst="rect">
            <a:avLst/>
          </a:prstGeom>
        </p:spPr>
      </p:pic>
      <p:pic>
        <p:nvPicPr>
          <p:cNvPr id="46" name="Graphic 45" descr="Programmer male with solid fill">
            <a:extLst>
              <a:ext uri="{FF2B5EF4-FFF2-40B4-BE49-F238E27FC236}">
                <a16:creationId xmlns:a16="http://schemas.microsoft.com/office/drawing/2014/main" id="{D68D767C-7EF4-2FC7-ED56-F6336457FAA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860136" y="6076523"/>
            <a:ext cx="228600" cy="228600"/>
          </a:xfrm>
          <a:prstGeom prst="rect">
            <a:avLst/>
          </a:prstGeom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39DCF49-8B1B-C17A-1095-DD513156E9FF}"/>
              </a:ext>
            </a:extLst>
          </p:cNvPr>
          <p:cNvSpPr/>
          <p:nvPr/>
        </p:nvSpPr>
        <p:spPr>
          <a:xfrm rot="5400000">
            <a:off x="4571091" y="2661181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7756BC7-314D-1B1D-1A0A-732CA56CAEC9}"/>
              </a:ext>
            </a:extLst>
          </p:cNvPr>
          <p:cNvSpPr/>
          <p:nvPr/>
        </p:nvSpPr>
        <p:spPr>
          <a:xfrm rot="5400000">
            <a:off x="6711018" y="2661181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598C5F8-E09F-661F-2FD3-0917EFFB7F78}"/>
              </a:ext>
            </a:extLst>
          </p:cNvPr>
          <p:cNvSpPr/>
          <p:nvPr/>
        </p:nvSpPr>
        <p:spPr>
          <a:xfrm rot="5400000">
            <a:off x="8850946" y="2661181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0B914-E48C-45B4-198B-A34E486D3E11}"/>
              </a:ext>
            </a:extLst>
          </p:cNvPr>
          <p:cNvSpPr txBox="1"/>
          <p:nvPr/>
        </p:nvSpPr>
        <p:spPr>
          <a:xfrm>
            <a:off x="482823" y="1301452"/>
            <a:ext cx="7150099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/>
              <a:t>Not to Mitul / Abhishek:</a:t>
            </a:r>
          </a:p>
          <a:p>
            <a:r>
              <a:rPr lang="en-US"/>
              <a:t>How do we make as much of the categories here match those on slide 2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ED7AC9AF-F24D-018F-D77E-BD38CCBA7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Science Lifecycle</a:t>
            </a: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AAF062F9-0965-1470-A83B-FA68737C3DAC}"/>
              </a:ext>
            </a:extLst>
          </p:cNvPr>
          <p:cNvSpPr/>
          <p:nvPr/>
        </p:nvSpPr>
        <p:spPr>
          <a:xfrm rot="16200000" flipH="1">
            <a:off x="8850946" y="4118682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948604CE-C677-29D3-38F6-9ADBEF8A9B52}"/>
              </a:ext>
            </a:extLst>
          </p:cNvPr>
          <p:cNvSpPr/>
          <p:nvPr/>
        </p:nvSpPr>
        <p:spPr>
          <a:xfrm rot="16200000" flipH="1">
            <a:off x="6711018" y="4118683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42084473-AE94-AE21-2844-075880503DDF}"/>
              </a:ext>
            </a:extLst>
          </p:cNvPr>
          <p:cNvSpPr/>
          <p:nvPr/>
        </p:nvSpPr>
        <p:spPr>
          <a:xfrm rot="16200000" flipH="1">
            <a:off x="4571091" y="4118683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F4136E72-870F-EF7E-E949-1BEF1E6D7073}"/>
              </a:ext>
            </a:extLst>
          </p:cNvPr>
          <p:cNvSpPr/>
          <p:nvPr/>
        </p:nvSpPr>
        <p:spPr>
          <a:xfrm rot="5400000">
            <a:off x="6711018" y="5584384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3A0B360C-50AE-E40B-F462-97C129589435}"/>
              </a:ext>
            </a:extLst>
          </p:cNvPr>
          <p:cNvSpPr/>
          <p:nvPr/>
        </p:nvSpPr>
        <p:spPr>
          <a:xfrm rot="5400000">
            <a:off x="8850946" y="5584384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4351E3-7D4A-3E9B-6A68-5A97C12969F8}"/>
              </a:ext>
            </a:extLst>
          </p:cNvPr>
          <p:cNvCxnSpPr>
            <a:cxnSpLocks/>
          </p:cNvCxnSpPr>
          <p:nvPr/>
        </p:nvCxnSpPr>
        <p:spPr>
          <a:xfrm>
            <a:off x="3951560" y="2749713"/>
            <a:ext cx="1444457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E502DF-B0CB-196A-0212-CB8F9D765D36}"/>
              </a:ext>
            </a:extLst>
          </p:cNvPr>
          <p:cNvCxnSpPr>
            <a:stCxn id="37" idx="3"/>
            <a:endCxn id="66" idx="2"/>
          </p:cNvCxnSpPr>
          <p:nvPr/>
        </p:nvCxnSpPr>
        <p:spPr>
          <a:xfrm>
            <a:off x="6060023" y="2749713"/>
            <a:ext cx="1534499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3F88A77-E205-3AE9-7618-B34C865E61AD}"/>
              </a:ext>
            </a:extLst>
          </p:cNvPr>
          <p:cNvCxnSpPr>
            <a:cxnSpLocks/>
          </p:cNvCxnSpPr>
          <p:nvPr/>
        </p:nvCxnSpPr>
        <p:spPr>
          <a:xfrm>
            <a:off x="8271178" y="2749713"/>
            <a:ext cx="136493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F0DF581-95E0-6D38-CBF6-3A0B3E28A90A}"/>
              </a:ext>
            </a:extLst>
          </p:cNvPr>
          <p:cNvCxnSpPr>
            <a:stCxn id="81" idx="3"/>
          </p:cNvCxnSpPr>
          <p:nvPr/>
        </p:nvCxnSpPr>
        <p:spPr>
          <a:xfrm flipV="1">
            <a:off x="10312764" y="2748833"/>
            <a:ext cx="345002" cy="88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63A78ED-A5C6-F97B-4F24-1FCF617271ED}"/>
              </a:ext>
            </a:extLst>
          </p:cNvPr>
          <p:cNvCxnSpPr>
            <a:cxnSpLocks/>
            <a:stCxn id="104" idx="6"/>
            <a:endCxn id="64" idx="2"/>
          </p:cNvCxnSpPr>
          <p:nvPr/>
        </p:nvCxnSpPr>
        <p:spPr>
          <a:xfrm flipV="1">
            <a:off x="10312764" y="4206060"/>
            <a:ext cx="313880" cy="115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c 63">
            <a:extLst>
              <a:ext uri="{FF2B5EF4-FFF2-40B4-BE49-F238E27FC236}">
                <a16:creationId xmlns:a16="http://schemas.microsoft.com/office/drawing/2014/main" id="{0AD16920-D9AA-3394-7291-1918E575FDDA}"/>
              </a:ext>
            </a:extLst>
          </p:cNvPr>
          <p:cNvSpPr/>
          <p:nvPr/>
        </p:nvSpPr>
        <p:spPr>
          <a:xfrm>
            <a:off x="10117852" y="2747612"/>
            <a:ext cx="1078202" cy="1459602"/>
          </a:xfrm>
          <a:prstGeom prst="arc">
            <a:avLst>
              <a:gd name="adj1" fmla="val 16200000"/>
              <a:gd name="adj2" fmla="val 5542914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4946EB5F-D5C8-4D32-B320-2B6571B74726}"/>
              </a:ext>
            </a:extLst>
          </p:cNvPr>
          <p:cNvSpPr/>
          <p:nvPr/>
        </p:nvSpPr>
        <p:spPr>
          <a:xfrm flipH="1">
            <a:off x="2417915" y="4206060"/>
            <a:ext cx="1078202" cy="1464155"/>
          </a:xfrm>
          <a:prstGeom prst="arc">
            <a:avLst>
              <a:gd name="adj1" fmla="val 16200000"/>
              <a:gd name="adj2" fmla="val 5542914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C02E70C-B68A-AFB4-5C16-BB2E5545ABE6}"/>
              </a:ext>
            </a:extLst>
          </p:cNvPr>
          <p:cNvCxnSpPr>
            <a:cxnSpLocks/>
            <a:stCxn id="104" idx="2"/>
            <a:endCxn id="109" idx="6"/>
          </p:cNvCxnSpPr>
          <p:nvPr/>
        </p:nvCxnSpPr>
        <p:spPr>
          <a:xfrm flipH="1">
            <a:off x="8192362" y="4207214"/>
            <a:ext cx="1443746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1B8F09C-A0B5-1508-335F-C6B45A190C89}"/>
              </a:ext>
            </a:extLst>
          </p:cNvPr>
          <p:cNvCxnSpPr>
            <a:cxnSpLocks/>
            <a:stCxn id="116" idx="2"/>
            <a:endCxn id="118" idx="6"/>
          </p:cNvCxnSpPr>
          <p:nvPr/>
        </p:nvCxnSpPr>
        <p:spPr>
          <a:xfrm flipH="1">
            <a:off x="3951562" y="4207214"/>
            <a:ext cx="1443743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8E2E870-C1A6-5566-DF4E-F7097FADDB2F}"/>
              </a:ext>
            </a:extLst>
          </p:cNvPr>
          <p:cNvCxnSpPr>
            <a:cxnSpLocks/>
            <a:stCxn id="116" idx="6"/>
            <a:endCxn id="109" idx="2"/>
          </p:cNvCxnSpPr>
          <p:nvPr/>
        </p:nvCxnSpPr>
        <p:spPr>
          <a:xfrm>
            <a:off x="6071961" y="4207214"/>
            <a:ext cx="1443745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40FB139-686B-0508-40E5-D5E6D0C155B2}"/>
              </a:ext>
            </a:extLst>
          </p:cNvPr>
          <p:cNvCxnSpPr>
            <a:stCxn id="132" idx="6"/>
            <a:endCxn id="138" idx="2"/>
          </p:cNvCxnSpPr>
          <p:nvPr/>
        </p:nvCxnSpPr>
        <p:spPr>
          <a:xfrm flipV="1">
            <a:off x="3951562" y="5672522"/>
            <a:ext cx="1443745" cy="190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4EEE1F0-0C0B-B4A4-B8E4-CAD44C172272}"/>
              </a:ext>
            </a:extLst>
          </p:cNvPr>
          <p:cNvCxnSpPr>
            <a:cxnSpLocks/>
            <a:stCxn id="138" idx="6"/>
            <a:endCxn id="143" idx="2"/>
          </p:cNvCxnSpPr>
          <p:nvPr/>
        </p:nvCxnSpPr>
        <p:spPr>
          <a:xfrm>
            <a:off x="6071963" y="5672522"/>
            <a:ext cx="1443745" cy="190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20FFB6D-5881-F373-ABBD-0D9E07BB214A}"/>
              </a:ext>
            </a:extLst>
          </p:cNvPr>
          <p:cNvCxnSpPr>
            <a:cxnSpLocks/>
            <a:stCxn id="143" idx="6"/>
            <a:endCxn id="148" idx="2"/>
          </p:cNvCxnSpPr>
          <p:nvPr/>
        </p:nvCxnSpPr>
        <p:spPr>
          <a:xfrm>
            <a:off x="8192364" y="5674430"/>
            <a:ext cx="1443744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E8EB902-F4B3-479A-3299-7037A7539F52}"/>
              </a:ext>
            </a:extLst>
          </p:cNvPr>
          <p:cNvCxnSpPr>
            <a:cxnSpLocks/>
          </p:cNvCxnSpPr>
          <p:nvPr/>
        </p:nvCxnSpPr>
        <p:spPr>
          <a:xfrm flipV="1">
            <a:off x="2961026" y="4206060"/>
            <a:ext cx="313880" cy="115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7C87086-6FE5-042D-FE46-C5343736E36C}"/>
              </a:ext>
            </a:extLst>
          </p:cNvPr>
          <p:cNvCxnSpPr>
            <a:cxnSpLocks/>
          </p:cNvCxnSpPr>
          <p:nvPr/>
        </p:nvCxnSpPr>
        <p:spPr>
          <a:xfrm flipV="1">
            <a:off x="2961026" y="5673061"/>
            <a:ext cx="313880" cy="115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Isosceles Triangle 124">
            <a:extLst>
              <a:ext uri="{FF2B5EF4-FFF2-40B4-BE49-F238E27FC236}">
                <a16:creationId xmlns:a16="http://schemas.microsoft.com/office/drawing/2014/main" id="{9956EC60-2B2C-019E-72AC-CE6CB899F3F4}"/>
              </a:ext>
            </a:extLst>
          </p:cNvPr>
          <p:cNvSpPr/>
          <p:nvPr/>
        </p:nvSpPr>
        <p:spPr>
          <a:xfrm rot="5400000">
            <a:off x="4571091" y="5584384"/>
            <a:ext cx="205394" cy="1770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716497B-055E-94D7-9551-9CED123F0042}"/>
              </a:ext>
            </a:extLst>
          </p:cNvPr>
          <p:cNvGrpSpPr/>
          <p:nvPr/>
        </p:nvGrpSpPr>
        <p:grpSpPr>
          <a:xfrm>
            <a:off x="9731278" y="4604426"/>
            <a:ext cx="486316" cy="228600"/>
            <a:chOff x="7689692" y="4604426"/>
            <a:chExt cx="486316" cy="228600"/>
          </a:xfrm>
        </p:grpSpPr>
        <p:pic>
          <p:nvPicPr>
            <p:cNvPr id="130" name="Graphic 129" descr="Programmer male with solid fill">
              <a:extLst>
                <a:ext uri="{FF2B5EF4-FFF2-40B4-BE49-F238E27FC236}">
                  <a16:creationId xmlns:a16="http://schemas.microsoft.com/office/drawing/2014/main" id="{51B97C32-4D23-7961-9CB3-3FF70F468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947408" y="4604426"/>
              <a:ext cx="228600" cy="228600"/>
            </a:xfrm>
            <a:prstGeom prst="rect">
              <a:avLst/>
            </a:prstGeom>
          </p:spPr>
        </p:pic>
        <p:pic>
          <p:nvPicPr>
            <p:cNvPr id="133" name="Graphic 132" descr="Programmer male with solid fill">
              <a:extLst>
                <a:ext uri="{FF2B5EF4-FFF2-40B4-BE49-F238E27FC236}">
                  <a16:creationId xmlns:a16="http://schemas.microsoft.com/office/drawing/2014/main" id="{432692EB-9592-3396-3F73-893E4A626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689692" y="4604426"/>
              <a:ext cx="228600" cy="228600"/>
            </a:xfrm>
            <a:prstGeom prst="rect">
              <a:avLst/>
            </a:prstGeom>
          </p:spPr>
        </p:pic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E732B2C-77EF-B98F-F8A4-074EE101C772}"/>
              </a:ext>
            </a:extLst>
          </p:cNvPr>
          <p:cNvGrpSpPr/>
          <p:nvPr/>
        </p:nvGrpSpPr>
        <p:grpSpPr>
          <a:xfrm>
            <a:off x="7610876" y="6076523"/>
            <a:ext cx="486316" cy="228600"/>
            <a:chOff x="7689692" y="4604426"/>
            <a:chExt cx="486316" cy="228600"/>
          </a:xfrm>
        </p:grpSpPr>
        <p:pic>
          <p:nvPicPr>
            <p:cNvPr id="141" name="Graphic 140" descr="Programmer male with solid fill">
              <a:extLst>
                <a:ext uri="{FF2B5EF4-FFF2-40B4-BE49-F238E27FC236}">
                  <a16:creationId xmlns:a16="http://schemas.microsoft.com/office/drawing/2014/main" id="{48D8CCE7-80F2-D473-ECCB-488725305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947408" y="4604426"/>
              <a:ext cx="228600" cy="228600"/>
            </a:xfrm>
            <a:prstGeom prst="rect">
              <a:avLst/>
            </a:prstGeom>
          </p:spPr>
        </p:pic>
        <p:pic>
          <p:nvPicPr>
            <p:cNvPr id="146" name="Graphic 145" descr="Programmer male with solid fill">
              <a:extLst>
                <a:ext uri="{FF2B5EF4-FFF2-40B4-BE49-F238E27FC236}">
                  <a16:creationId xmlns:a16="http://schemas.microsoft.com/office/drawing/2014/main" id="{22E4F645-B904-71AB-147F-A3E876A1A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689692" y="4604426"/>
              <a:ext cx="228600" cy="228600"/>
            </a:xfrm>
            <a:prstGeom prst="rect">
              <a:avLst/>
            </a:prstGeom>
          </p:spPr>
        </p:pic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99BEFB1-1ED5-5D7A-7EA4-8833F2A0D78D}"/>
              </a:ext>
            </a:extLst>
          </p:cNvPr>
          <p:cNvGrpSpPr/>
          <p:nvPr/>
        </p:nvGrpSpPr>
        <p:grpSpPr>
          <a:xfrm>
            <a:off x="3370076" y="6076523"/>
            <a:ext cx="486316" cy="228600"/>
            <a:chOff x="7689692" y="4604426"/>
            <a:chExt cx="486316" cy="228600"/>
          </a:xfrm>
        </p:grpSpPr>
        <p:pic>
          <p:nvPicPr>
            <p:cNvPr id="151" name="Graphic 150" descr="Programmer male with solid fill">
              <a:extLst>
                <a:ext uri="{FF2B5EF4-FFF2-40B4-BE49-F238E27FC236}">
                  <a16:creationId xmlns:a16="http://schemas.microsoft.com/office/drawing/2014/main" id="{EEF1F32B-2505-51C9-459F-0BA44CDDD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947408" y="4604426"/>
              <a:ext cx="228600" cy="228600"/>
            </a:xfrm>
            <a:prstGeom prst="rect">
              <a:avLst/>
            </a:prstGeom>
          </p:spPr>
        </p:pic>
        <p:pic>
          <p:nvPicPr>
            <p:cNvPr id="152" name="Graphic 151" descr="Programmer male with solid fill">
              <a:extLst>
                <a:ext uri="{FF2B5EF4-FFF2-40B4-BE49-F238E27FC236}">
                  <a16:creationId xmlns:a16="http://schemas.microsoft.com/office/drawing/2014/main" id="{CD5B9CB4-E993-035A-18BE-43793CC45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689692" y="4604426"/>
              <a:ext cx="228600" cy="228600"/>
            </a:xfrm>
            <a:prstGeom prst="rect">
              <a:avLst/>
            </a:prstGeom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1F83BF9-AF72-8175-7534-AF24352198BF}"/>
              </a:ext>
            </a:extLst>
          </p:cNvPr>
          <p:cNvGrpSpPr/>
          <p:nvPr/>
        </p:nvGrpSpPr>
        <p:grpSpPr>
          <a:xfrm>
            <a:off x="5508739" y="6076523"/>
            <a:ext cx="486316" cy="228600"/>
            <a:chOff x="7689692" y="4604426"/>
            <a:chExt cx="486316" cy="228600"/>
          </a:xfrm>
        </p:grpSpPr>
        <p:pic>
          <p:nvPicPr>
            <p:cNvPr id="154" name="Graphic 153" descr="Programmer male with solid fill">
              <a:extLst>
                <a:ext uri="{FF2B5EF4-FFF2-40B4-BE49-F238E27FC236}">
                  <a16:creationId xmlns:a16="http://schemas.microsoft.com/office/drawing/2014/main" id="{29843E0A-3098-DEA6-C91C-45F3C8614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947408" y="4604426"/>
              <a:ext cx="228600" cy="228600"/>
            </a:xfrm>
            <a:prstGeom prst="rect">
              <a:avLst/>
            </a:prstGeom>
          </p:spPr>
        </p:pic>
        <p:pic>
          <p:nvPicPr>
            <p:cNvPr id="155" name="Graphic 154" descr="Programmer male with solid fill">
              <a:extLst>
                <a:ext uri="{FF2B5EF4-FFF2-40B4-BE49-F238E27FC236}">
                  <a16:creationId xmlns:a16="http://schemas.microsoft.com/office/drawing/2014/main" id="{1F884BFB-2A09-CE87-2936-E44D5B260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689692" y="4604426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8809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3B0A63B-1B60-2C91-E0C7-472A17B5E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434426"/>
              </p:ext>
            </p:extLst>
          </p:nvPr>
        </p:nvGraphicFramePr>
        <p:xfrm>
          <a:off x="265178" y="1256881"/>
          <a:ext cx="11581383" cy="5541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887">
                  <a:extLst>
                    <a:ext uri="{9D8B030D-6E8A-4147-A177-3AD203B41FA5}">
                      <a16:colId xmlns:a16="http://schemas.microsoft.com/office/drawing/2014/main" val="1097946721"/>
                    </a:ext>
                  </a:extLst>
                </a:gridCol>
                <a:gridCol w="1771887">
                  <a:extLst>
                    <a:ext uri="{9D8B030D-6E8A-4147-A177-3AD203B41FA5}">
                      <a16:colId xmlns:a16="http://schemas.microsoft.com/office/drawing/2014/main" val="440090377"/>
                    </a:ext>
                  </a:extLst>
                </a:gridCol>
                <a:gridCol w="2099761">
                  <a:extLst>
                    <a:ext uri="{9D8B030D-6E8A-4147-A177-3AD203B41FA5}">
                      <a16:colId xmlns:a16="http://schemas.microsoft.com/office/drawing/2014/main" val="690848718"/>
                    </a:ext>
                  </a:extLst>
                </a:gridCol>
                <a:gridCol w="5937848">
                  <a:extLst>
                    <a:ext uri="{9D8B030D-6E8A-4147-A177-3AD203B41FA5}">
                      <a16:colId xmlns:a16="http://schemas.microsoft.com/office/drawing/2014/main" val="3288014742"/>
                    </a:ext>
                  </a:extLst>
                </a:gridCol>
              </a:tblGrid>
              <a:tr h="31928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Recommended next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40550"/>
                  </a:ext>
                </a:extLst>
              </a:tr>
              <a:tr h="498016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Data Science Lifecycle</a:t>
                      </a:r>
                    </a:p>
                    <a:p>
                      <a:pPr algn="ctr"/>
                      <a:endParaRPr lang="en-US" sz="140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Data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Integrate Additional data points (if needed by the business)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650734"/>
                  </a:ext>
                </a:extLst>
              </a:tr>
              <a:tr h="716800"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Model Industrialization Approach</a:t>
                      </a:r>
                    </a:p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Data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Detailed Data Quality rules should be updated by respective Business PODs and Data Stewards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Data Observability tool can be explored for end-to-end Data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326917"/>
                  </a:ext>
                </a:extLst>
              </a:tr>
              <a:tr h="13716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Model Industrialization Approach</a:t>
                      </a:r>
                    </a:p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Low code Feature Engineering framework to be explored / developed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Feature store to be designed and developed for Online / Offline feature serving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Feature store to be integrated with alation for Cataloging, Searchability and lineage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Feature Selection framework can be discussed and 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675579"/>
                  </a:ext>
                </a:extLst>
              </a:tr>
              <a:tr h="113493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Model Industrialization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Model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Modularized prototyping for Model development will be developed in this engagement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The prototype to be extended to additional use-cases and algorithms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Model Development lifecycle to be integrated with modules like LIME &amp; SHAP to add transparency and explainibility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349286"/>
                  </a:ext>
                </a:extLst>
              </a:tr>
              <a:tr h="92586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Model Experimentation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Experimentation capability to enabled on vertex (using tensorboard)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Every experiment to be tracked with corresponding parameters / output metrics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Extending vertex model registry for the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389"/>
                  </a:ext>
                </a:extLst>
              </a:tr>
              <a:tr h="50773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Model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The platform should be configurable to deploy for batch / real-time scoring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138331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8A66C7-34EF-9989-77C2-D017FA79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/>
              <a:t>MLOps Platform: Next Steps</a:t>
            </a:r>
            <a:endParaRPr lang="en-US"/>
          </a:p>
        </p:txBody>
      </p:sp>
      <p:pic>
        <p:nvPicPr>
          <p:cNvPr id="6" name="Graphic 5" descr="Production with solid fill">
            <a:extLst>
              <a:ext uri="{FF2B5EF4-FFF2-40B4-BE49-F238E27FC236}">
                <a16:creationId xmlns:a16="http://schemas.microsoft.com/office/drawing/2014/main" id="{5E3AF23E-676D-6359-01EC-1692CD07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0913" y="5790783"/>
            <a:ext cx="433021" cy="433021"/>
          </a:xfrm>
          <a:prstGeom prst="rect">
            <a:avLst/>
          </a:prstGeom>
        </p:spPr>
      </p:pic>
      <p:pic>
        <p:nvPicPr>
          <p:cNvPr id="7" name="Graphic 6" descr="Continuous Improvement outline">
            <a:extLst>
              <a:ext uri="{FF2B5EF4-FFF2-40B4-BE49-F238E27FC236}">
                <a16:creationId xmlns:a16="http://schemas.microsoft.com/office/drawing/2014/main" id="{2403D85E-7DCB-BCF0-9414-917CC26CE7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703" y="4355993"/>
            <a:ext cx="433935" cy="433021"/>
          </a:xfrm>
          <a:prstGeom prst="rect">
            <a:avLst/>
          </a:prstGeom>
        </p:spPr>
      </p:pic>
      <p:pic>
        <p:nvPicPr>
          <p:cNvPr id="9" name="Graphic 8" descr="Jackhammer with solid fill">
            <a:extLst>
              <a:ext uri="{FF2B5EF4-FFF2-40B4-BE49-F238E27FC236}">
                <a16:creationId xmlns:a16="http://schemas.microsoft.com/office/drawing/2014/main" id="{E9AFF070-FB0B-7952-7579-F9C9479023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6734" y="300228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73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3B0A63B-1B60-2C91-E0C7-472A17B5E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805081"/>
              </p:ext>
            </p:extLst>
          </p:nvPr>
        </p:nvGraphicFramePr>
        <p:xfrm>
          <a:off x="265178" y="1348320"/>
          <a:ext cx="11489942" cy="5377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817">
                  <a:extLst>
                    <a:ext uri="{9D8B030D-6E8A-4147-A177-3AD203B41FA5}">
                      <a16:colId xmlns:a16="http://schemas.microsoft.com/office/drawing/2014/main" val="3294159090"/>
                    </a:ext>
                  </a:extLst>
                </a:gridCol>
                <a:gridCol w="1703817">
                  <a:extLst>
                    <a:ext uri="{9D8B030D-6E8A-4147-A177-3AD203B41FA5}">
                      <a16:colId xmlns:a16="http://schemas.microsoft.com/office/drawing/2014/main" val="1180617519"/>
                    </a:ext>
                  </a:extLst>
                </a:gridCol>
                <a:gridCol w="1703817">
                  <a:extLst>
                    <a:ext uri="{9D8B030D-6E8A-4147-A177-3AD203B41FA5}">
                      <a16:colId xmlns:a16="http://schemas.microsoft.com/office/drawing/2014/main" val="690848718"/>
                    </a:ext>
                  </a:extLst>
                </a:gridCol>
                <a:gridCol w="6378491">
                  <a:extLst>
                    <a:ext uri="{9D8B030D-6E8A-4147-A177-3AD203B41FA5}">
                      <a16:colId xmlns:a16="http://schemas.microsoft.com/office/drawing/2014/main" val="3288014742"/>
                    </a:ext>
                  </a:extLst>
                </a:gridCol>
              </a:tblGrid>
              <a:tr h="589947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Recommended next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40550"/>
                  </a:ext>
                </a:extLst>
              </a:tr>
              <a:tr h="824309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Data Science Lifecycle</a:t>
                      </a:r>
                    </a:p>
                    <a:p>
                      <a:pPr algn="ctr"/>
                      <a:endParaRPr lang="en-US" sz="140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Monitoring (model &amp; data)</a:t>
                      </a:r>
                    </a:p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Model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Vertex monitoring and custom monitoring modules to be developed / explored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Custom drift monitoring modules to be developed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8973"/>
                  </a:ext>
                </a:extLst>
              </a:tr>
              <a:tr h="1163731"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Feedback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Model monitoring pipeline validates the model performances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Deep below threshold level or sudden deviation in model performance metrics should re-trigger model re-training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147066"/>
                  </a:ext>
                </a:extLst>
              </a:tr>
              <a:tr h="824309"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Model 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Standardized Logging framework across the platform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Model performance Observability to be enabled for the entire </a:t>
                      </a:r>
                      <a:r>
                        <a:rPr lang="en-US" sz="1400" err="1"/>
                        <a:t>MLOps</a:t>
                      </a:r>
                      <a:r>
                        <a:rPr lang="en-US" sz="1400"/>
                        <a:t>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956158"/>
                  </a:ext>
                </a:extLst>
              </a:tr>
              <a:tr h="589947"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Responsible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Cultural adoption around areas like Accountability, Fairness and transparency.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036507"/>
                  </a:ext>
                </a:extLst>
              </a:tr>
              <a:tr h="589947"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Engineering</a:t>
                      </a:r>
                    </a:p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Data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Data Catalog platform (Alation) to be extended for Feature Catalog for searchability.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703431"/>
                  </a:ext>
                </a:extLst>
              </a:tr>
              <a:tr h="795143"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Data Lineage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Data Catalog platform (Alation) to be extended for entire </a:t>
                      </a:r>
                      <a:r>
                        <a:rPr lang="en-US" sz="1400" err="1"/>
                        <a:t>MLOps</a:t>
                      </a:r>
                      <a:r>
                        <a:rPr lang="en-US" sz="1400"/>
                        <a:t> pipeline for lineage at feature / model output level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This can serve as an input for the end-to-end observability 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8467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7C6F145-B542-43AE-F603-5BF1EEFB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/>
              <a:t>MLOps Platform: Next Steps</a:t>
            </a:r>
            <a:endParaRPr lang="en-US"/>
          </a:p>
        </p:txBody>
      </p:sp>
      <p:pic>
        <p:nvPicPr>
          <p:cNvPr id="2" name="Graphic 1" descr="Security camera with solid fill">
            <a:extLst>
              <a:ext uri="{FF2B5EF4-FFF2-40B4-BE49-F238E27FC236}">
                <a16:creationId xmlns:a16="http://schemas.microsoft.com/office/drawing/2014/main" id="{14811BCF-0E54-C8CF-EA65-B0F1F38C8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9863" y="4036986"/>
            <a:ext cx="431997" cy="431997"/>
          </a:xfrm>
          <a:prstGeom prst="rect">
            <a:avLst/>
          </a:prstGeom>
        </p:spPr>
      </p:pic>
      <p:pic>
        <p:nvPicPr>
          <p:cNvPr id="5" name="Graphic 4" descr="Continuous Improvement outline">
            <a:extLst>
              <a:ext uri="{FF2B5EF4-FFF2-40B4-BE49-F238E27FC236}">
                <a16:creationId xmlns:a16="http://schemas.microsoft.com/office/drawing/2014/main" id="{3970DAEE-40F8-132B-2E80-B3159B05D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703" y="4355993"/>
            <a:ext cx="433935" cy="433021"/>
          </a:xfrm>
          <a:prstGeom prst="rect">
            <a:avLst/>
          </a:prstGeom>
        </p:spPr>
      </p:pic>
      <p:pic>
        <p:nvPicPr>
          <p:cNvPr id="6" name="Graphic 5" descr="Jackhammer with solid fill">
            <a:extLst>
              <a:ext uri="{FF2B5EF4-FFF2-40B4-BE49-F238E27FC236}">
                <a16:creationId xmlns:a16="http://schemas.microsoft.com/office/drawing/2014/main" id="{DE812DAE-BEE0-B388-4400-9FCC794D95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4660" y="602996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28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9E7C-270A-0EEA-D97E-25230E7A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Journey &amp; Timeline (</a:t>
            </a:r>
            <a:r>
              <a:rPr lang="en-US" err="1"/>
              <a:t>MLOps</a:t>
            </a:r>
            <a:r>
              <a:rPr lang="en-US"/>
              <a:t>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C43AE55-6624-5061-52BF-36C67D839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123746"/>
              </p:ext>
            </p:extLst>
          </p:nvPr>
        </p:nvGraphicFramePr>
        <p:xfrm>
          <a:off x="681790" y="1239521"/>
          <a:ext cx="11307007" cy="5510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490">
                  <a:extLst>
                    <a:ext uri="{9D8B030D-6E8A-4147-A177-3AD203B41FA5}">
                      <a16:colId xmlns:a16="http://schemas.microsoft.com/office/drawing/2014/main" val="426504151"/>
                    </a:ext>
                  </a:extLst>
                </a:gridCol>
                <a:gridCol w="599775">
                  <a:extLst>
                    <a:ext uri="{9D8B030D-6E8A-4147-A177-3AD203B41FA5}">
                      <a16:colId xmlns:a16="http://schemas.microsoft.com/office/drawing/2014/main" val="1204726142"/>
                    </a:ext>
                  </a:extLst>
                </a:gridCol>
                <a:gridCol w="633869">
                  <a:extLst>
                    <a:ext uri="{9D8B030D-6E8A-4147-A177-3AD203B41FA5}">
                      <a16:colId xmlns:a16="http://schemas.microsoft.com/office/drawing/2014/main" val="2473037316"/>
                    </a:ext>
                  </a:extLst>
                </a:gridCol>
                <a:gridCol w="590258">
                  <a:extLst>
                    <a:ext uri="{9D8B030D-6E8A-4147-A177-3AD203B41FA5}">
                      <a16:colId xmlns:a16="http://schemas.microsoft.com/office/drawing/2014/main" val="2269768880"/>
                    </a:ext>
                  </a:extLst>
                </a:gridCol>
                <a:gridCol w="642035">
                  <a:extLst>
                    <a:ext uri="{9D8B030D-6E8A-4147-A177-3AD203B41FA5}">
                      <a16:colId xmlns:a16="http://schemas.microsoft.com/office/drawing/2014/main" val="709820858"/>
                    </a:ext>
                  </a:extLst>
                </a:gridCol>
                <a:gridCol w="600613">
                  <a:extLst>
                    <a:ext uri="{9D8B030D-6E8A-4147-A177-3AD203B41FA5}">
                      <a16:colId xmlns:a16="http://schemas.microsoft.com/office/drawing/2014/main" val="1724955178"/>
                    </a:ext>
                  </a:extLst>
                </a:gridCol>
                <a:gridCol w="642035">
                  <a:extLst>
                    <a:ext uri="{9D8B030D-6E8A-4147-A177-3AD203B41FA5}">
                      <a16:colId xmlns:a16="http://schemas.microsoft.com/office/drawing/2014/main" val="3170548311"/>
                    </a:ext>
                  </a:extLst>
                </a:gridCol>
                <a:gridCol w="621323">
                  <a:extLst>
                    <a:ext uri="{9D8B030D-6E8A-4147-A177-3AD203B41FA5}">
                      <a16:colId xmlns:a16="http://schemas.microsoft.com/office/drawing/2014/main" val="3803934494"/>
                    </a:ext>
                  </a:extLst>
                </a:gridCol>
                <a:gridCol w="610969">
                  <a:extLst>
                    <a:ext uri="{9D8B030D-6E8A-4147-A177-3AD203B41FA5}">
                      <a16:colId xmlns:a16="http://schemas.microsoft.com/office/drawing/2014/main" val="1431994567"/>
                    </a:ext>
                  </a:extLst>
                </a:gridCol>
                <a:gridCol w="610969">
                  <a:extLst>
                    <a:ext uri="{9D8B030D-6E8A-4147-A177-3AD203B41FA5}">
                      <a16:colId xmlns:a16="http://schemas.microsoft.com/office/drawing/2014/main" val="2599508029"/>
                    </a:ext>
                  </a:extLst>
                </a:gridCol>
                <a:gridCol w="642035">
                  <a:extLst>
                    <a:ext uri="{9D8B030D-6E8A-4147-A177-3AD203B41FA5}">
                      <a16:colId xmlns:a16="http://schemas.microsoft.com/office/drawing/2014/main" val="1218703610"/>
                    </a:ext>
                  </a:extLst>
                </a:gridCol>
                <a:gridCol w="621323">
                  <a:extLst>
                    <a:ext uri="{9D8B030D-6E8A-4147-A177-3AD203B41FA5}">
                      <a16:colId xmlns:a16="http://schemas.microsoft.com/office/drawing/2014/main" val="2590596641"/>
                    </a:ext>
                  </a:extLst>
                </a:gridCol>
                <a:gridCol w="673102">
                  <a:extLst>
                    <a:ext uri="{9D8B030D-6E8A-4147-A177-3AD203B41FA5}">
                      <a16:colId xmlns:a16="http://schemas.microsoft.com/office/drawing/2014/main" val="2295289976"/>
                    </a:ext>
                  </a:extLst>
                </a:gridCol>
                <a:gridCol w="662745">
                  <a:extLst>
                    <a:ext uri="{9D8B030D-6E8A-4147-A177-3AD203B41FA5}">
                      <a16:colId xmlns:a16="http://schemas.microsoft.com/office/drawing/2014/main" val="190076596"/>
                    </a:ext>
                  </a:extLst>
                </a:gridCol>
                <a:gridCol w="735233">
                  <a:extLst>
                    <a:ext uri="{9D8B030D-6E8A-4147-A177-3AD203B41FA5}">
                      <a16:colId xmlns:a16="http://schemas.microsoft.com/office/drawing/2014/main" val="2341258089"/>
                    </a:ext>
                  </a:extLst>
                </a:gridCol>
                <a:gridCol w="735233">
                  <a:extLst>
                    <a:ext uri="{9D8B030D-6E8A-4147-A177-3AD203B41FA5}">
                      <a16:colId xmlns:a16="http://schemas.microsoft.com/office/drawing/2014/main" val="3616560358"/>
                    </a:ext>
                  </a:extLst>
                </a:gridCol>
              </a:tblGrid>
              <a:tr h="498193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+mn-lt"/>
                        </a:rPr>
                        <a:t>Topics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Week   1-2</a:t>
                      </a:r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Week  2-4</a:t>
                      </a:r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4-8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 8-10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10-12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12-14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14-16 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16-18 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18-20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20-22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/>
                        <a:t>Week 22-24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Week 24-26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Week 26-28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Week  28-30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Week  30-32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412255990"/>
                  </a:ext>
                </a:extLst>
              </a:tr>
              <a:tr h="344767">
                <a:tc>
                  <a:txBody>
                    <a:bodyPr/>
                    <a:lstStyle/>
                    <a:p>
                      <a:r>
                        <a:rPr lang="en-US" sz="1200" b="1"/>
                        <a:t>Assessment Org Level</a:t>
                      </a:r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779935632"/>
                  </a:ext>
                </a:extLst>
              </a:tr>
              <a:tr h="444897">
                <a:tc>
                  <a:txBody>
                    <a:bodyPr/>
                    <a:lstStyle/>
                    <a:p>
                      <a:pPr lvl="0"/>
                      <a:r>
                        <a:rPr lang="en-US" sz="1200" b="1">
                          <a:latin typeface="+mn-lt"/>
                        </a:rPr>
                        <a:t>Assessment Project Level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145599989"/>
                  </a:ext>
                </a:extLst>
              </a:tr>
              <a:tr h="444897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+mn-lt"/>
                        </a:rPr>
                        <a:t>Data &amp; Architecture Discussions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851083393"/>
                  </a:ext>
                </a:extLst>
              </a:tr>
              <a:tr h="344767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+mn-lt"/>
                        </a:rPr>
                        <a:t>Data Connectors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687652409"/>
                  </a:ext>
                </a:extLst>
              </a:tr>
              <a:tr h="344767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+mn-lt"/>
                        </a:rPr>
                        <a:t>Data Quality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885259471"/>
                  </a:ext>
                </a:extLst>
              </a:tr>
              <a:tr h="444897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+mn-lt"/>
                        </a:rPr>
                        <a:t>Data Catalog &amp; Lineage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206404876"/>
                  </a:ext>
                </a:extLst>
              </a:tr>
              <a:tr h="344767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+mn-lt"/>
                        </a:rPr>
                        <a:t>Feature Engineering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074818608"/>
                  </a:ext>
                </a:extLst>
              </a:tr>
              <a:tr h="35008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+mn-lt"/>
                        </a:rPr>
                        <a:t>Model Development 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01692150"/>
                  </a:ext>
                </a:extLst>
              </a:tr>
              <a:tr h="444897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+mn-lt"/>
                        </a:rPr>
                        <a:t>Model Experimentation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108382878"/>
                  </a:ext>
                </a:extLst>
              </a:tr>
              <a:tr h="344767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+mn-lt"/>
                        </a:rPr>
                        <a:t>Model deployment 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675985565"/>
                  </a:ext>
                </a:extLst>
              </a:tr>
              <a:tr h="344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Model Monitoring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278200405"/>
                  </a:ext>
                </a:extLst>
              </a:tr>
              <a:tr h="344767">
                <a:tc>
                  <a:txBody>
                    <a:bodyPr/>
                    <a:lstStyle/>
                    <a:p>
                      <a:r>
                        <a:rPr lang="en-US" sz="1200" b="1"/>
                        <a:t>Feedback Loop</a:t>
                      </a:r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417856975"/>
                  </a:ext>
                </a:extLst>
              </a:tr>
              <a:tr h="44489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+mn-lt"/>
                        </a:rPr>
                        <a:t>Model Observability - RAI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808319040"/>
                  </a:ext>
                </a:extLst>
              </a:tr>
            </a:tbl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D28969E3-F405-948E-2778-80E89DFF678C}"/>
              </a:ext>
            </a:extLst>
          </p:cNvPr>
          <p:cNvSpPr/>
          <p:nvPr/>
        </p:nvSpPr>
        <p:spPr>
          <a:xfrm>
            <a:off x="132080" y="1239521"/>
            <a:ext cx="549710" cy="54861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6ED1C-272A-A37F-DB3E-BB8B84F751BC}"/>
              </a:ext>
            </a:extLst>
          </p:cNvPr>
          <p:cNvSpPr/>
          <p:nvPr/>
        </p:nvSpPr>
        <p:spPr>
          <a:xfrm>
            <a:off x="2428240" y="1849120"/>
            <a:ext cx="477520" cy="1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C3E25E-950A-3253-C906-0FEB52DC7FF9}"/>
              </a:ext>
            </a:extLst>
          </p:cNvPr>
          <p:cNvSpPr/>
          <p:nvPr/>
        </p:nvSpPr>
        <p:spPr>
          <a:xfrm>
            <a:off x="2468880" y="2235200"/>
            <a:ext cx="1026160" cy="1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AEAC94-8C6D-C41C-7121-139968B9182F}"/>
              </a:ext>
            </a:extLst>
          </p:cNvPr>
          <p:cNvSpPr/>
          <p:nvPr/>
        </p:nvSpPr>
        <p:spPr>
          <a:xfrm>
            <a:off x="2468880" y="2621280"/>
            <a:ext cx="1625600" cy="19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22A33-E1AA-9637-7081-CD2D51D7519F}"/>
              </a:ext>
            </a:extLst>
          </p:cNvPr>
          <p:cNvSpPr/>
          <p:nvPr/>
        </p:nvSpPr>
        <p:spPr>
          <a:xfrm>
            <a:off x="4246880" y="3037840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8D6584-C3CE-3EDF-9540-0DB9D43C905F}"/>
              </a:ext>
            </a:extLst>
          </p:cNvPr>
          <p:cNvSpPr/>
          <p:nvPr/>
        </p:nvSpPr>
        <p:spPr>
          <a:xfrm>
            <a:off x="4927600" y="3429000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6DBF5-F948-4407-E531-249D9BB1DA31}"/>
              </a:ext>
            </a:extLst>
          </p:cNvPr>
          <p:cNvSpPr/>
          <p:nvPr/>
        </p:nvSpPr>
        <p:spPr>
          <a:xfrm>
            <a:off x="5519955" y="3799706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BC223C-5009-B542-C93F-5BE83A0462AD}"/>
              </a:ext>
            </a:extLst>
          </p:cNvPr>
          <p:cNvSpPr/>
          <p:nvPr/>
        </p:nvSpPr>
        <p:spPr>
          <a:xfrm>
            <a:off x="6231154" y="4200892"/>
            <a:ext cx="1571725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98F9F4-9745-0F9E-2972-699B8C183EDC}"/>
              </a:ext>
            </a:extLst>
          </p:cNvPr>
          <p:cNvSpPr/>
          <p:nvPr/>
        </p:nvSpPr>
        <p:spPr>
          <a:xfrm>
            <a:off x="8029475" y="4567186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2AFBA1-A91E-A713-9E5D-8F83A663E626}"/>
              </a:ext>
            </a:extLst>
          </p:cNvPr>
          <p:cNvSpPr/>
          <p:nvPr/>
        </p:nvSpPr>
        <p:spPr>
          <a:xfrm>
            <a:off x="8029475" y="4892306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C81EA0-A6C6-2365-D835-FA9CD6D509DA}"/>
              </a:ext>
            </a:extLst>
          </p:cNvPr>
          <p:cNvSpPr/>
          <p:nvPr/>
        </p:nvSpPr>
        <p:spPr>
          <a:xfrm>
            <a:off x="9299475" y="5329186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78F36E-CCBD-7A7D-CCC5-1E1A50490B1C}"/>
              </a:ext>
            </a:extLst>
          </p:cNvPr>
          <p:cNvSpPr/>
          <p:nvPr/>
        </p:nvSpPr>
        <p:spPr>
          <a:xfrm>
            <a:off x="9299475" y="5694946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9B30E1-BF11-BFAC-7957-8FF4BA4AC8F9}"/>
              </a:ext>
            </a:extLst>
          </p:cNvPr>
          <p:cNvSpPr/>
          <p:nvPr/>
        </p:nvSpPr>
        <p:spPr>
          <a:xfrm>
            <a:off x="9949715" y="6039721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A57E61-9EF1-DAD5-CBEA-74EC4C2B1804}"/>
              </a:ext>
            </a:extLst>
          </p:cNvPr>
          <p:cNvSpPr/>
          <p:nvPr/>
        </p:nvSpPr>
        <p:spPr>
          <a:xfrm>
            <a:off x="10671075" y="6394988"/>
            <a:ext cx="102616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665B2-77E5-74B1-E547-4BCBD8359A51}"/>
              </a:ext>
            </a:extLst>
          </p:cNvPr>
          <p:cNvSpPr txBox="1"/>
          <p:nvPr/>
        </p:nvSpPr>
        <p:spPr>
          <a:xfrm rot="16200000">
            <a:off x="1753412" y="4004660"/>
            <a:ext cx="4900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Pick a project to implement</a:t>
            </a:r>
            <a:endParaRPr lang="en-IN" sz="1000" b="1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5EE3F5-E705-0CB2-5736-99C139C456B8}"/>
              </a:ext>
            </a:extLst>
          </p:cNvPr>
          <p:cNvCxnSpPr/>
          <p:nvPr/>
        </p:nvCxnSpPr>
        <p:spPr>
          <a:xfrm>
            <a:off x="4196080" y="1767840"/>
            <a:ext cx="0" cy="1452880"/>
          </a:xfrm>
          <a:prstGeom prst="line">
            <a:avLst/>
          </a:prstGeom>
          <a:ln w="22225" cap="flat" cmpd="sng" algn="ctr">
            <a:solidFill>
              <a:schemeClr val="accent5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155049-6A6F-6B99-F9CA-952BA060DA5E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4196080" y="4968506"/>
            <a:ext cx="7430" cy="1609362"/>
          </a:xfrm>
          <a:prstGeom prst="line">
            <a:avLst/>
          </a:prstGeom>
          <a:ln w="22225" cap="flat" cmpd="sng" algn="ctr">
            <a:solidFill>
              <a:schemeClr val="accent5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134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D5D1-4DE9-96DB-11B7-42115E753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953BCD-AFA3-2FE8-B477-2B0AE35BFB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2AB94-C79B-4FA9-8299-0FC7EEE988C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6537A-2BB4-FF48-B56B-03283A5CE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80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FC67EC5C-BCF3-1F51-BB9E-3815021877A5}"/>
              </a:ext>
            </a:extLst>
          </p:cNvPr>
          <p:cNvSpPr/>
          <p:nvPr/>
        </p:nvSpPr>
        <p:spPr>
          <a:xfrm>
            <a:off x="5859185" y="5300602"/>
            <a:ext cx="988655" cy="947798"/>
          </a:xfrm>
          <a:prstGeom prst="rect">
            <a:avLst/>
          </a:prstGeom>
          <a:ln w="317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Title 1">
            <a:extLst>
              <a:ext uri="{FF2B5EF4-FFF2-40B4-BE49-F238E27FC236}">
                <a16:creationId xmlns:a16="http://schemas.microsoft.com/office/drawing/2014/main" id="{78EF18BC-B3DD-E7EA-CFA1-C5F38336DA50}"/>
              </a:ext>
            </a:extLst>
          </p:cNvPr>
          <p:cNvSpPr txBox="1">
            <a:spLocks/>
          </p:cNvSpPr>
          <p:nvPr/>
        </p:nvSpPr>
        <p:spPr>
          <a:xfrm>
            <a:off x="107984" y="237646"/>
            <a:ext cx="11430001" cy="564634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cap="none" dirty="0" err="1">
                <a:solidFill>
                  <a:srgbClr val="1D9FDB"/>
                </a:solidFill>
                <a:latin typeface="Rockwell"/>
              </a:rPr>
              <a:t>MLOps</a:t>
            </a:r>
            <a:r>
              <a:rPr lang="en-US" sz="4400" cap="none" dirty="0">
                <a:solidFill>
                  <a:srgbClr val="1D9FDB"/>
                </a:solidFill>
                <a:latin typeface="Rockwell"/>
              </a:rPr>
              <a:t> Journey in GMI </a:t>
            </a:r>
            <a:endParaRPr lang="en-US" sz="4400" dirty="0">
              <a:latin typeface="Rockwel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89B12B-E405-0795-1367-C664E833B423}"/>
              </a:ext>
            </a:extLst>
          </p:cNvPr>
          <p:cNvGrpSpPr/>
          <p:nvPr/>
        </p:nvGrpSpPr>
        <p:grpSpPr>
          <a:xfrm>
            <a:off x="833120" y="2062480"/>
            <a:ext cx="1706880" cy="2682240"/>
            <a:chOff x="833120" y="2062480"/>
            <a:chExt cx="1706880" cy="2682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36B3F57-61A4-7A44-2992-2F96D303053D}"/>
                </a:ext>
              </a:extLst>
            </p:cNvPr>
            <p:cNvSpPr/>
            <p:nvPr/>
          </p:nvSpPr>
          <p:spPr>
            <a:xfrm>
              <a:off x="863600" y="2062480"/>
              <a:ext cx="1381760" cy="2682240"/>
            </a:xfrm>
            <a:prstGeom prst="roundRect">
              <a:avLst/>
            </a:prstGeom>
            <a:ln w="38100">
              <a:solidFill>
                <a:srgbClr val="FF5BA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F87797-D01E-3C24-8754-E98A47500D13}"/>
                </a:ext>
              </a:extLst>
            </p:cNvPr>
            <p:cNvSpPr/>
            <p:nvPr/>
          </p:nvSpPr>
          <p:spPr>
            <a:xfrm>
              <a:off x="1158240" y="3307080"/>
              <a:ext cx="741680" cy="741680"/>
            </a:xfrm>
            <a:prstGeom prst="ellipse">
              <a:avLst/>
            </a:prstGeom>
            <a:ln w="28575">
              <a:solidFill>
                <a:srgbClr val="FF5BA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1AB327-A65C-F3EB-1BD7-8980D2D3C364}"/>
                </a:ext>
              </a:extLst>
            </p:cNvPr>
            <p:cNvSpPr/>
            <p:nvPr/>
          </p:nvSpPr>
          <p:spPr>
            <a:xfrm>
              <a:off x="1158240" y="2209800"/>
              <a:ext cx="741680" cy="741680"/>
            </a:xfrm>
            <a:prstGeom prst="ellipse">
              <a:avLst/>
            </a:prstGeom>
            <a:ln w="28575">
              <a:solidFill>
                <a:srgbClr val="FF5BA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" name="Graphic 2" descr="Clipboard Mixed with solid fill">
              <a:extLst>
                <a:ext uri="{FF2B5EF4-FFF2-40B4-BE49-F238E27FC236}">
                  <a16:creationId xmlns:a16="http://schemas.microsoft.com/office/drawing/2014/main" id="{D82124AC-9A87-1FE7-28DC-DF7577E4D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8240" y="2209800"/>
              <a:ext cx="741680" cy="741680"/>
            </a:xfrm>
            <a:prstGeom prst="rect">
              <a:avLst/>
            </a:prstGeom>
          </p:spPr>
        </p:pic>
        <p:pic>
          <p:nvPicPr>
            <p:cNvPr id="4" name="Graphic 3" descr="Clipboard Mixed with solid fill">
              <a:extLst>
                <a:ext uri="{FF2B5EF4-FFF2-40B4-BE49-F238E27FC236}">
                  <a16:creationId xmlns:a16="http://schemas.microsoft.com/office/drawing/2014/main" id="{266EB570-CE79-2600-FD35-6F0B56F2A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8240" y="3317240"/>
              <a:ext cx="741680" cy="74168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0CA1A9-EB3D-B0D7-F7E9-C9D724530C73}"/>
                </a:ext>
              </a:extLst>
            </p:cNvPr>
            <p:cNvSpPr txBox="1"/>
            <p:nvPr/>
          </p:nvSpPr>
          <p:spPr>
            <a:xfrm>
              <a:off x="1158240" y="2932669"/>
              <a:ext cx="1381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Org. level</a:t>
              </a:r>
              <a:endParaRPr lang="en-IN" sz="10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0F442A-5459-05B4-4DF0-4956DAE48E09}"/>
                </a:ext>
              </a:extLst>
            </p:cNvPr>
            <p:cNvSpPr txBox="1"/>
            <p:nvPr/>
          </p:nvSpPr>
          <p:spPr>
            <a:xfrm>
              <a:off x="1158240" y="4028440"/>
              <a:ext cx="1381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Project level</a:t>
              </a:r>
              <a:endParaRPr lang="en-IN" sz="1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DBCCC7-782C-A71D-86A7-6C5B55C65EF1}"/>
                </a:ext>
              </a:extLst>
            </p:cNvPr>
            <p:cNvSpPr txBox="1"/>
            <p:nvPr/>
          </p:nvSpPr>
          <p:spPr>
            <a:xfrm>
              <a:off x="833120" y="4439484"/>
              <a:ext cx="1554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Assessment Framework</a:t>
              </a:r>
              <a:endParaRPr lang="en-IN" sz="1000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E751B2-B6D4-2282-C1EC-1A5BB7D13BD6}"/>
              </a:ext>
            </a:extLst>
          </p:cNvPr>
          <p:cNvGrpSpPr/>
          <p:nvPr/>
        </p:nvGrpSpPr>
        <p:grpSpPr>
          <a:xfrm>
            <a:off x="4284385" y="2062480"/>
            <a:ext cx="1640840" cy="2682240"/>
            <a:chOff x="4284385" y="2062480"/>
            <a:chExt cx="1640840" cy="268224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A922AB0-42F5-67CE-CFA9-983AD7ECA27B}"/>
                </a:ext>
              </a:extLst>
            </p:cNvPr>
            <p:cNvSpPr/>
            <p:nvPr/>
          </p:nvSpPr>
          <p:spPr>
            <a:xfrm>
              <a:off x="4370745" y="2062480"/>
              <a:ext cx="1381760" cy="2682240"/>
            </a:xfrm>
            <a:prstGeom prst="roundRect">
              <a:avLst/>
            </a:prstGeom>
            <a:ln w="38100">
              <a:solidFill>
                <a:srgbClr val="92D05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70B98FB-F076-6C30-CD25-587741E2A200}"/>
                </a:ext>
              </a:extLst>
            </p:cNvPr>
            <p:cNvGrpSpPr/>
            <p:nvPr/>
          </p:nvGrpSpPr>
          <p:grpSpPr>
            <a:xfrm>
              <a:off x="4707970" y="2236709"/>
              <a:ext cx="707310" cy="714771"/>
              <a:chOff x="5845890" y="3171429"/>
              <a:chExt cx="707310" cy="714771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AEC85A0-4950-1599-AD41-28A754E49A14}"/>
                  </a:ext>
                </a:extLst>
              </p:cNvPr>
              <p:cNvSpPr/>
              <p:nvPr/>
            </p:nvSpPr>
            <p:spPr>
              <a:xfrm>
                <a:off x="5845890" y="3171429"/>
                <a:ext cx="707310" cy="707310"/>
              </a:xfrm>
              <a:prstGeom prst="rect">
                <a:avLst/>
              </a:prstGeom>
              <a:ln w="31750">
                <a:solidFill>
                  <a:srgbClr val="92D050"/>
                </a:solidFill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4" name="Graphic 13" descr="Tally with solid fill">
                <a:extLst>
                  <a:ext uri="{FF2B5EF4-FFF2-40B4-BE49-F238E27FC236}">
                    <a16:creationId xmlns:a16="http://schemas.microsoft.com/office/drawing/2014/main" id="{BAE47F82-B6C4-4DCE-01B7-E3F183AF6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845890" y="3178890"/>
                <a:ext cx="707310" cy="707310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05A00C5-13DD-68AA-01B0-453279BA684A}"/>
                </a:ext>
              </a:extLst>
            </p:cNvPr>
            <p:cNvGrpSpPr/>
            <p:nvPr/>
          </p:nvGrpSpPr>
          <p:grpSpPr>
            <a:xfrm>
              <a:off x="4707970" y="3306644"/>
              <a:ext cx="707310" cy="714771"/>
              <a:chOff x="5845890" y="3171429"/>
              <a:chExt cx="707310" cy="71477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1E44235-C9D8-84D2-DBDD-DE8E26C07AF7}"/>
                  </a:ext>
                </a:extLst>
              </p:cNvPr>
              <p:cNvSpPr/>
              <p:nvPr/>
            </p:nvSpPr>
            <p:spPr>
              <a:xfrm>
                <a:off x="5845890" y="3171429"/>
                <a:ext cx="707310" cy="707310"/>
              </a:xfrm>
              <a:prstGeom prst="rect">
                <a:avLst/>
              </a:prstGeom>
              <a:ln w="31750">
                <a:solidFill>
                  <a:schemeClr val="accent4"/>
                </a:solidFill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21" name="Graphic 20" descr="Tally with solid fill">
                <a:extLst>
                  <a:ext uri="{FF2B5EF4-FFF2-40B4-BE49-F238E27FC236}">
                    <a16:creationId xmlns:a16="http://schemas.microsoft.com/office/drawing/2014/main" id="{33024764-4709-8786-CB09-9E1107916E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845890" y="3178890"/>
                <a:ext cx="707310" cy="707310"/>
              </a:xfrm>
              <a:prstGeom prst="rect">
                <a:avLst/>
              </a:prstGeom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F79C872-5820-0DF7-38FD-080E4639D8C0}"/>
                </a:ext>
              </a:extLst>
            </p:cNvPr>
            <p:cNvSpPr txBox="1"/>
            <p:nvPr/>
          </p:nvSpPr>
          <p:spPr>
            <a:xfrm>
              <a:off x="4543465" y="4017525"/>
              <a:ext cx="1381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Project level Score</a:t>
              </a:r>
              <a:endParaRPr lang="en-IN" sz="1000" b="1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6AC1FA-3487-9456-8A7B-391F9AB54D1C}"/>
                </a:ext>
              </a:extLst>
            </p:cNvPr>
            <p:cNvSpPr txBox="1"/>
            <p:nvPr/>
          </p:nvSpPr>
          <p:spPr>
            <a:xfrm>
              <a:off x="4543465" y="2916892"/>
              <a:ext cx="1381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Org. level Score</a:t>
              </a:r>
              <a:endParaRPr lang="en-IN" sz="1000" b="1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ECC553-81E5-563B-E4C4-F6C8160084FA}"/>
                </a:ext>
              </a:extLst>
            </p:cNvPr>
            <p:cNvSpPr txBox="1"/>
            <p:nvPr/>
          </p:nvSpPr>
          <p:spPr>
            <a:xfrm>
              <a:off x="4284385" y="4439484"/>
              <a:ext cx="1554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Score Computation</a:t>
              </a:r>
              <a:endParaRPr lang="en-IN" sz="1000" b="1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D8D77C4-DF27-1CF3-2286-263232A1508F}"/>
              </a:ext>
            </a:extLst>
          </p:cNvPr>
          <p:cNvGrpSpPr/>
          <p:nvPr/>
        </p:nvGrpSpPr>
        <p:grpSpPr>
          <a:xfrm>
            <a:off x="6958410" y="2062480"/>
            <a:ext cx="1554480" cy="2682240"/>
            <a:chOff x="6958410" y="2062480"/>
            <a:chExt cx="1554480" cy="268224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934FBDF-07A9-FA5A-3C3A-6D17F662629A}"/>
                </a:ext>
              </a:extLst>
            </p:cNvPr>
            <p:cNvSpPr/>
            <p:nvPr/>
          </p:nvSpPr>
          <p:spPr>
            <a:xfrm>
              <a:off x="7049850" y="2062480"/>
              <a:ext cx="1381760" cy="2682240"/>
            </a:xfrm>
            <a:prstGeom prst="roundRect">
              <a:avLst/>
            </a:prstGeom>
            <a:ln w="38100">
              <a:solidFill>
                <a:srgbClr val="92D05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25B1558-721F-4E23-2F52-7B514C3AE285}"/>
                </a:ext>
              </a:extLst>
            </p:cNvPr>
            <p:cNvSpPr/>
            <p:nvPr/>
          </p:nvSpPr>
          <p:spPr>
            <a:xfrm>
              <a:off x="7324170" y="2173050"/>
              <a:ext cx="822960" cy="707310"/>
            </a:xfrm>
            <a:prstGeom prst="rect">
              <a:avLst/>
            </a:prstGeom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Graphic 27" descr="Building Brick Wall with solid fill">
              <a:extLst>
                <a:ext uri="{FF2B5EF4-FFF2-40B4-BE49-F238E27FC236}">
                  <a16:creationId xmlns:a16="http://schemas.microsoft.com/office/drawing/2014/main" id="{04204E8A-8C1B-5BB5-C50F-665D47EC4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24170" y="2121059"/>
              <a:ext cx="822960" cy="822960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44A0A70-96F8-B57C-E676-2DA3C72E6068}"/>
                </a:ext>
              </a:extLst>
            </p:cNvPr>
            <p:cNvSpPr/>
            <p:nvPr/>
          </p:nvSpPr>
          <p:spPr>
            <a:xfrm>
              <a:off x="7324170" y="3277791"/>
              <a:ext cx="822960" cy="707310"/>
            </a:xfrm>
            <a:prstGeom prst="rect">
              <a:avLst/>
            </a:prstGeom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Graphic 40" descr="Building Brick Wall with solid fill">
              <a:extLst>
                <a:ext uri="{FF2B5EF4-FFF2-40B4-BE49-F238E27FC236}">
                  <a16:creationId xmlns:a16="http://schemas.microsoft.com/office/drawing/2014/main" id="{DBB0B38E-3DC8-E203-5F56-0CB153E91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24170" y="3225800"/>
              <a:ext cx="822960" cy="82296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A5CCE5-3475-8EE4-5625-B198B8A38F42}"/>
                </a:ext>
              </a:extLst>
            </p:cNvPr>
            <p:cNvSpPr txBox="1"/>
            <p:nvPr/>
          </p:nvSpPr>
          <p:spPr>
            <a:xfrm>
              <a:off x="6958410" y="4230290"/>
              <a:ext cx="1554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Find out improvement area in respective level</a:t>
              </a:r>
              <a:endParaRPr lang="en-IN" sz="1000" b="1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F77EDC7-BD2A-E2B8-4965-74DF2E6F61EC}"/>
              </a:ext>
            </a:extLst>
          </p:cNvPr>
          <p:cNvGrpSpPr/>
          <p:nvPr/>
        </p:nvGrpSpPr>
        <p:grpSpPr>
          <a:xfrm>
            <a:off x="9644322" y="2062480"/>
            <a:ext cx="1554480" cy="2682240"/>
            <a:chOff x="9167237" y="2057400"/>
            <a:chExt cx="1554480" cy="268224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E6BACE00-9C06-6B65-376B-7260B68E0472}"/>
                </a:ext>
              </a:extLst>
            </p:cNvPr>
            <p:cNvSpPr/>
            <p:nvPr/>
          </p:nvSpPr>
          <p:spPr>
            <a:xfrm>
              <a:off x="9253597" y="2057400"/>
              <a:ext cx="1381760" cy="2682240"/>
            </a:xfrm>
            <a:prstGeom prst="roundRect">
              <a:avLst/>
            </a:prstGeom>
            <a:ln w="38100">
              <a:solidFill>
                <a:srgbClr val="92D05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69B02A3-BF56-84B9-B644-F76059080E7F}"/>
                </a:ext>
              </a:extLst>
            </p:cNvPr>
            <p:cNvSpPr/>
            <p:nvPr/>
          </p:nvSpPr>
          <p:spPr>
            <a:xfrm>
              <a:off x="9556235" y="2202339"/>
              <a:ext cx="776485" cy="759301"/>
            </a:xfrm>
            <a:prstGeom prst="rect">
              <a:avLst/>
            </a:prstGeom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8" name="Graphic 47" descr="Aspiration with solid fill">
              <a:extLst>
                <a:ext uri="{FF2B5EF4-FFF2-40B4-BE49-F238E27FC236}">
                  <a16:creationId xmlns:a16="http://schemas.microsoft.com/office/drawing/2014/main" id="{3E023BB0-9ECF-9F0B-671E-47BFB085F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556235" y="2244983"/>
              <a:ext cx="685364" cy="685364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0BA1A0B-748D-11D3-F2A7-64E7E9BF0C30}"/>
                </a:ext>
              </a:extLst>
            </p:cNvPr>
            <p:cNvSpPr/>
            <p:nvPr/>
          </p:nvSpPr>
          <p:spPr>
            <a:xfrm>
              <a:off x="9556235" y="3280112"/>
              <a:ext cx="776485" cy="759301"/>
            </a:xfrm>
            <a:prstGeom prst="rect">
              <a:avLst/>
            </a:prstGeom>
            <a:ln w="317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3" name="Graphic 52" descr="Aspiration with solid fill">
              <a:extLst>
                <a:ext uri="{FF2B5EF4-FFF2-40B4-BE49-F238E27FC236}">
                  <a16:creationId xmlns:a16="http://schemas.microsoft.com/office/drawing/2014/main" id="{D49AC720-CD14-8B8B-C023-248EFCA25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556235" y="3343076"/>
              <a:ext cx="685364" cy="685364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F8A1A37-C613-F174-DC46-F6AF3A64E1EE}"/>
                </a:ext>
              </a:extLst>
            </p:cNvPr>
            <p:cNvSpPr txBox="1"/>
            <p:nvPr/>
          </p:nvSpPr>
          <p:spPr>
            <a:xfrm>
              <a:off x="9167237" y="4274661"/>
              <a:ext cx="1554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Plan out implementation at each level</a:t>
              </a:r>
              <a:endParaRPr lang="en-IN" sz="1000" b="1" dirty="0"/>
            </a:p>
          </p:txBody>
        </p:sp>
      </p:grpSp>
      <p:pic>
        <p:nvPicPr>
          <p:cNvPr id="57" name="Graphic 56" descr="Spinning Plates with solid fill">
            <a:extLst>
              <a:ext uri="{FF2B5EF4-FFF2-40B4-BE49-F238E27FC236}">
                <a16:creationId xmlns:a16="http://schemas.microsoft.com/office/drawing/2014/main" id="{61BACD00-A7AC-286D-F9C5-BB4084C67A3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25225" y="5361562"/>
            <a:ext cx="830958" cy="830958"/>
          </a:xfrm>
          <a:prstGeom prst="rect">
            <a:avLst/>
          </a:prstGeom>
        </p:spPr>
      </p:pic>
      <p:sp>
        <p:nvSpPr>
          <p:cNvPr id="69" name="Arrow: Right 68">
            <a:extLst>
              <a:ext uri="{FF2B5EF4-FFF2-40B4-BE49-F238E27FC236}">
                <a16:creationId xmlns:a16="http://schemas.microsoft.com/office/drawing/2014/main" id="{7B8E6FDA-D8EB-452A-5B47-F524BADE3304}"/>
              </a:ext>
            </a:extLst>
          </p:cNvPr>
          <p:cNvSpPr/>
          <p:nvPr/>
        </p:nvSpPr>
        <p:spPr>
          <a:xfrm>
            <a:off x="2702560" y="3163113"/>
            <a:ext cx="1155105" cy="515998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85137FDD-B277-4EE0-C725-146FEC92F9DF}"/>
              </a:ext>
            </a:extLst>
          </p:cNvPr>
          <p:cNvSpPr/>
          <p:nvPr/>
        </p:nvSpPr>
        <p:spPr>
          <a:xfrm>
            <a:off x="5833786" y="3163113"/>
            <a:ext cx="1155105" cy="515998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C1306A57-7FDA-88AB-7351-148CF2B7371D}"/>
              </a:ext>
            </a:extLst>
          </p:cNvPr>
          <p:cNvSpPr/>
          <p:nvPr/>
        </p:nvSpPr>
        <p:spPr>
          <a:xfrm>
            <a:off x="8523050" y="3180356"/>
            <a:ext cx="1155105" cy="515998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3C3856-09D3-A32A-0F06-D1B86744E302}"/>
              </a:ext>
            </a:extLst>
          </p:cNvPr>
          <p:cNvSpPr txBox="1"/>
          <p:nvPr/>
        </p:nvSpPr>
        <p:spPr>
          <a:xfrm>
            <a:off x="5605185" y="6248400"/>
            <a:ext cx="1554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Execute </a:t>
            </a:r>
            <a:endParaRPr lang="en-IN" sz="1000" b="1" dirty="0"/>
          </a:p>
        </p:txBody>
      </p: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E810B5E3-39F8-50FD-338A-90F16A1FE488}"/>
              </a:ext>
            </a:extLst>
          </p:cNvPr>
          <p:cNvCxnSpPr>
            <a:stCxn id="54" idx="2"/>
          </p:cNvCxnSpPr>
          <p:nvPr/>
        </p:nvCxnSpPr>
        <p:spPr>
          <a:xfrm rot="5400000">
            <a:off x="8176907" y="3556705"/>
            <a:ext cx="1056640" cy="3432671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E8E5EC81-B61E-63AD-8E7E-FE0B04FC1434}"/>
              </a:ext>
            </a:extLst>
          </p:cNvPr>
          <p:cNvCxnSpPr>
            <a:stCxn id="61" idx="1"/>
            <a:endCxn id="10" idx="2"/>
          </p:cNvCxnSpPr>
          <p:nvPr/>
        </p:nvCxnSpPr>
        <p:spPr>
          <a:xfrm rot="10800000">
            <a:off x="1554481" y="4744721"/>
            <a:ext cx="4304705" cy="1029781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899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30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d.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exvKpC7VaIMMeXQ04KTA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EaLf2h0zwmxXrahqSnT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Hkbx0LpvLCgr_pOAP75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kP70gIbCs70wtRXbU5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rJOEsILWOazgPzlxZ64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rJOEsILWOazgPzlxZ64Q"/>
</p:tagLst>
</file>

<file path=ppt/theme/theme1.xml><?xml version="1.0" encoding="utf-8"?>
<a:theme xmlns:a="http://schemas.openxmlformats.org/drawingml/2006/main" name="2018 Updated GMI Corporate PPT Template">
  <a:themeElements>
    <a:clrScheme name="Custom 9">
      <a:dk1>
        <a:sysClr val="windowText" lastClr="000000"/>
      </a:dk1>
      <a:lt1>
        <a:srgbClr val="FFFFFF"/>
      </a:lt1>
      <a:dk2>
        <a:srgbClr val="939598"/>
      </a:dk2>
      <a:lt2>
        <a:srgbClr val="B2B4B6"/>
      </a:lt2>
      <a:accent1>
        <a:srgbClr val="0054A6"/>
      </a:accent1>
      <a:accent2>
        <a:srgbClr val="0099D9"/>
      </a:accent2>
      <a:accent3>
        <a:srgbClr val="00ADB5"/>
      </a:accent3>
      <a:accent4>
        <a:srgbClr val="6CC04A"/>
      </a:accent4>
      <a:accent5>
        <a:srgbClr val="F7941D"/>
      </a:accent5>
      <a:accent6>
        <a:srgbClr val="939598"/>
      </a:accent6>
      <a:hlink>
        <a:srgbClr val="0563C1"/>
      </a:hlink>
      <a:folHlink>
        <a:srgbClr val="954F72"/>
      </a:folHlink>
    </a:clrScheme>
    <a:fontScheme name="Custom 7">
      <a:majorFont>
        <a:latin typeface="Rockwell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57DF2E06-42A1-4D66-BE3A-6B191E56F6C9}" vid="{CB770531-AD08-4222-BB75-1EE621A805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9">
    <a:dk1>
      <a:sysClr val="windowText" lastClr="000000"/>
    </a:dk1>
    <a:lt1>
      <a:srgbClr val="FFFFFF"/>
    </a:lt1>
    <a:dk2>
      <a:srgbClr val="939598"/>
    </a:dk2>
    <a:lt2>
      <a:srgbClr val="B2B4B6"/>
    </a:lt2>
    <a:accent1>
      <a:srgbClr val="0054A6"/>
    </a:accent1>
    <a:accent2>
      <a:srgbClr val="0099D9"/>
    </a:accent2>
    <a:accent3>
      <a:srgbClr val="00ADB5"/>
    </a:accent3>
    <a:accent4>
      <a:srgbClr val="6CC04A"/>
    </a:accent4>
    <a:accent5>
      <a:srgbClr val="F7941D"/>
    </a:accent5>
    <a:accent6>
      <a:srgbClr val="939598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3F758EAEA22545B2400EA5E902D4D4" ma:contentTypeVersion="4" ma:contentTypeDescription="Create a new document." ma:contentTypeScope="" ma:versionID="e5573c085f67c109c8fd67fba1a88aad">
  <xsd:schema xmlns:xsd="http://www.w3.org/2001/XMLSchema" xmlns:xs="http://www.w3.org/2001/XMLSchema" xmlns:p="http://schemas.microsoft.com/office/2006/metadata/properties" xmlns:ns2="7d6f0251-f404-4bfd-a29b-e4ab9270643a" xmlns:ns3="cba5fdfb-a8bb-4b27-8705-b5a4f97b7de5" targetNamespace="http://schemas.microsoft.com/office/2006/metadata/properties" ma:root="true" ma:fieldsID="9b35554f7052546b76dc809d2c27e33b" ns2:_="" ns3:_="">
    <xsd:import namespace="7d6f0251-f404-4bfd-a29b-e4ab9270643a"/>
    <xsd:import namespace="cba5fdfb-a8bb-4b27-8705-b5a4f97b7d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6f0251-f404-4bfd-a29b-e4ab927064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a5fdfb-a8bb-4b27-8705-b5a4f97b7de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SharedWithUsers xmlns="cba5fdfb-a8bb-4b27-8705-b5a4f97b7de5">
      <UserInfo>
        <DisplayName>Kanioura, Athina</DisplayName>
        <AccountId>22</AccountId>
        <AccountType/>
      </UserInfo>
      <UserInfo>
        <DisplayName>Gurski, Laura</DisplayName>
        <AccountId>23</AccountId>
        <AccountType/>
      </UserInfo>
      <UserInfo>
        <DisplayName>Jison, Anthony</DisplayName>
        <AccountId>24</AccountId>
        <AccountType/>
      </UserInfo>
      <UserInfo>
        <DisplayName>Lhoste, Stephane</DisplayName>
        <AccountId>14</AccountId>
        <AccountType/>
      </UserInfo>
      <UserInfo>
        <DisplayName>Jain, Monica</DisplayName>
        <AccountId>16</AccountId>
        <AccountType/>
      </UserInfo>
      <UserInfo>
        <DisplayName>Sovereign, Christine</DisplayName>
        <AccountId>18</AccountId>
        <AccountType/>
      </UserInfo>
      <UserInfo>
        <DisplayName>Campbell, Matthew S.</DisplayName>
        <AccountId>28</AccountId>
        <AccountType/>
      </UserInfo>
      <UserInfo>
        <DisplayName>Otto, Michael V.</DisplayName>
        <AccountId>21</AccountId>
        <AccountType/>
      </UserInfo>
      <UserInfo>
        <DisplayName>Norton, Thomas</DisplayName>
        <AccountId>25</AccountId>
        <AccountType/>
      </UserInfo>
      <UserInfo>
        <DisplayName>Hirzalla, Mamoun A.</DisplayName>
        <AccountId>32</AccountId>
        <AccountType/>
      </UserInfo>
      <UserInfo>
        <DisplayName>Kar, Harsh</DisplayName>
        <AccountId>10</AccountId>
        <AccountType/>
      </UserInfo>
      <UserInfo>
        <DisplayName>Scully, James M.</DisplayName>
        <AccountId>35</AccountId>
        <AccountType/>
      </UserInfo>
      <UserInfo>
        <DisplayName>Rothaus, Philip</DisplayName>
        <AccountId>189</AccountId>
        <AccountType/>
      </UserInfo>
      <UserInfo>
        <DisplayName>Depa, Joseph</DisplayName>
        <AccountId>190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B1A0E3-904D-4C11-ABAD-795284C2F3DD}">
  <ds:schemaRefs>
    <ds:schemaRef ds:uri="7d6f0251-f404-4bfd-a29b-e4ab9270643a"/>
    <ds:schemaRef ds:uri="cba5fdfb-a8bb-4b27-8705-b5a4f97b7de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F1D3E9-26FE-4DBF-9C71-376F86F37495}">
  <ds:schemaRefs>
    <ds:schemaRef ds:uri="7d6f0251-f404-4bfd-a29b-e4ab9270643a"/>
    <ds:schemaRef ds:uri="cba5fdfb-a8bb-4b27-8705-b5a4f97b7de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D7CCAF-EE85-4081-A306-16C5B2F2D2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25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2018 Updated GMI Corporate PPT Template</vt:lpstr>
      <vt:lpstr>MLOps Strategy &amp; Framework</vt:lpstr>
      <vt:lpstr>Assessment Outcomes &amp; Recommendation</vt:lpstr>
      <vt:lpstr>Roadmap</vt:lpstr>
      <vt:lpstr>Model Experimentation &amp; Tracking </vt:lpstr>
      <vt:lpstr>Model Registry </vt:lpstr>
      <vt:lpstr>Standard Project Checklist</vt:lpstr>
      <vt:lpstr>Reusable Assets</vt:lpstr>
      <vt:lpstr>Model Framework</vt:lpstr>
      <vt:lpstr>Automated Training</vt:lpstr>
      <vt:lpstr>Access, Roles &amp; Permissions</vt:lpstr>
      <vt:lpstr>CI / CD Approach</vt:lpstr>
      <vt:lpstr>Monitoring</vt:lpstr>
      <vt:lpstr>Software Engineering Checklist</vt:lpstr>
      <vt:lpstr>Branching Strategy</vt:lpstr>
      <vt:lpstr>Monitoring &amp; Alert Mechanism</vt:lpstr>
      <vt:lpstr>Architecture</vt:lpstr>
      <vt:lpstr>Logging</vt:lpstr>
      <vt:lpstr>Ways of Working</vt:lpstr>
      <vt:lpstr>appendix</vt:lpstr>
      <vt:lpstr>Data Science Lifecycle</vt:lpstr>
      <vt:lpstr>MLOps Platform: Next Steps</vt:lpstr>
      <vt:lpstr>MLOps Platform: Next Steps</vt:lpstr>
      <vt:lpstr>Journey &amp; Timeline (MLOps)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Lhoste, Stephane</dc:creator>
  <cp:revision>67</cp:revision>
  <cp:lastPrinted>2020-05-07T15:53:19Z</cp:lastPrinted>
  <dcterms:created xsi:type="dcterms:W3CDTF">2020-06-04T14:32:24Z</dcterms:created>
  <dcterms:modified xsi:type="dcterms:W3CDTF">2023-05-30T18:24:11Z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0x0101005D3F758EAEA22545B2400EA5E902D4D4</vt:lpwstr>
  </property>
  <property fmtid="{D5CDD505-2E9C-101B-9397-08002B2CF9AE}" pid="3" name="Doc. Category">
    <vt:lpwstr>Mtg-Dept</vt:lpwstr>
  </property>
  <property fmtid="{D5CDD505-2E9C-101B-9397-08002B2CF9AE}" pid="4" name="_DCDateCreated">
    <vt:lpwstr>2012-03-15T00:05:00+00:00</vt:lpwstr>
  </property>
  <property fmtid="{D5CDD505-2E9C-101B-9397-08002B2CF9AE}" pid="5" name="Team">
    <vt:lpwstr>Dept-All</vt:lpwstr>
  </property>
  <property fmtid="{D5CDD505-2E9C-101B-9397-08002B2CF9AE}" pid="6" name="Date">
    <vt:lpwstr>2012-03-19T05:00:00+00:00</vt:lpwstr>
  </property>
  <property fmtid="{D5CDD505-2E9C-101B-9397-08002B2CF9AE}" pid="7" name="Presentation Date">
    <vt:lpwstr>2012-04-16T05:00:00+00:00</vt:lpwstr>
  </property>
  <property fmtid="{D5CDD505-2E9C-101B-9397-08002B2CF9AE}" pid="8" name="Presented By">
    <vt:lpwstr>Steve Watson1412</vt:lpwstr>
  </property>
  <property fmtid="{D5CDD505-2E9C-101B-9397-08002B2CF9AE}" pid="9" name="OPL Division">
    <vt:lpwstr>Information Systems</vt:lpwstr>
  </property>
  <property fmtid="{D5CDD505-2E9C-101B-9397-08002B2CF9AE}" pid="10" name="Transaction">
    <vt:lpwstr>;#NA;#</vt:lpwstr>
  </property>
  <property fmtid="{D5CDD505-2E9C-101B-9397-08002B2CF9AE}" pid="11" name="_dlc_DocIdItemGuid">
    <vt:lpwstr>2a98ddf9-74c9-46c0-b38b-984a26b2ddcc</vt:lpwstr>
  </property>
  <property fmtid="{D5CDD505-2E9C-101B-9397-08002B2CF9AE}" pid="12" name="Order">
    <vt:r8>2400</vt:r8>
  </property>
  <property fmtid="{D5CDD505-2E9C-101B-9397-08002B2CF9AE}" pid="13" name="URL">
    <vt:lpwstr/>
  </property>
  <property fmtid="{D5CDD505-2E9C-101B-9397-08002B2CF9AE}" pid="14" name="RecordType">
    <vt:lpwstr/>
  </property>
  <property fmtid="{D5CDD505-2E9C-101B-9397-08002B2CF9AE}" pid="15" name="xd_ProgID">
    <vt:lpwstr/>
  </property>
  <property fmtid="{D5CDD505-2E9C-101B-9397-08002B2CF9AE}" pid="16" name="TemplateUrl">
    <vt:lpwstr/>
  </property>
</Properties>
</file>